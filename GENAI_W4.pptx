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2" r:id="rId3"/>
    <p:sldId id="380" r:id="rId4"/>
    <p:sldId id="315" r:id="rId5"/>
    <p:sldId id="371" r:id="rId6"/>
    <p:sldId id="413" r:id="rId7"/>
    <p:sldId id="414" r:id="rId8"/>
    <p:sldId id="415" r:id="rId9"/>
    <p:sldId id="416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majewski" initials="jm" lastIdx="1" clrIdx="0">
    <p:extLst>
      <p:ext uri="{19B8F6BF-5375-455C-9EA6-DF929625EA0E}">
        <p15:presenceInfo xmlns:p15="http://schemas.microsoft.com/office/powerpoint/2012/main" userId="db9dc37592f2cf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14" autoAdjust="0"/>
    <p:restoredTop sz="94179" autoAdjust="0"/>
  </p:normalViewPr>
  <p:slideViewPr>
    <p:cSldViewPr snapToGrid="0" showGuides="1">
      <p:cViewPr varScale="1">
        <p:scale>
          <a:sx n="88" d="100"/>
          <a:sy n="88" d="100"/>
        </p:scale>
        <p:origin x="96" y="1650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AD13C-532C-48A9-AF48-A57AEED0EC6D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6E63F-5599-483C-B362-002622C1C3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4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3741900-0A7C-E470-46F4-338B3BBE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F69C5C29-90FE-FEDB-3388-1249984B4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1B6FD439-71FB-57F0-2DC4-1464FE74E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259C32DE-89AB-DE02-70B9-148DB7B3EE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951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C5CD311-2E00-71C2-5E80-3A7DEB1D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07E52E52-AA33-178E-E6DC-D8AF947D6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9A26A972-1328-A681-F1F1-C66C0BC89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0511111C-A279-0D51-7168-BC19B7DA4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4580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54C8D39-EAB6-D366-3D94-62378641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C02ED051-461D-E33B-C94D-F220EC4BC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583021AA-2379-87C9-370C-4D4AC4627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81D7234E-8F64-C2DA-3BFD-B1AD07DE25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7126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83F7A58C-0C23-C060-6F8A-52AC33AC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E6FC3FE3-0927-DC19-079F-0099557B0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2D9E848D-733F-2790-37D1-ED0468E9A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CB87EFA4-5493-8E57-C930-A35143CEA4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0630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C9305EC7-EB90-8BCF-4349-2B7B5BEB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EC9C302B-0139-0294-EDE5-32C56B173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F5B50C2B-C92A-C81B-B754-895A982AA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9A3605D8-D1CF-BAA9-BA41-725C547BA5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974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2C20CA-7094-6932-E112-20023456A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3348C5-4C50-9CA8-5C66-A833EB86C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0F9289-7582-040B-BE1A-7AE6C3EB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CF7BAA-20F1-9D64-F431-7F15A31B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5E73A4-7DCB-1D17-B825-B6E346F9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81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F4497D-75C4-B1E9-631D-85FD82CA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D709BD-3954-A939-4AFF-481C1C54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845E7AA-257D-4CEA-1326-03DA6DD1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89609E-18AD-801E-BFF9-C7CF4635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E16A70-41E2-9449-D7DA-FCD94DE8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5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5A5D9B-9FF4-FF59-12BC-8D0B755C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4ABE00F-650E-8F2B-E5C7-63618575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B3F7AA-07C9-6760-92FE-71283159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9707BC-1142-05BC-44BF-C45A2EC5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43DFB3-C128-AF09-1AA0-C5ECC2B9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78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F63A4D-F1C6-19E2-D7DB-42547A2B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71EBF9-009B-3A97-E8FA-DDC0AE785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E984B5F-30C6-F068-32F9-47C45014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F678B5-B253-73B2-702C-A7E5D44F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6C99AAC-589E-25AC-E4B6-12EFB09C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23CA0A-17C6-B83C-5F2F-5D674AF1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2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B48774-8536-928E-E456-2215E557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57831BF-B813-5601-BD11-25D496512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3DA94BC-61C4-094B-1610-03B29E59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567B359-79EB-FEAE-2B45-AC8E57E7A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3CF0982-F7F3-5D75-EDDB-7C1F5DFA3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DDD37D5-ACA0-87FB-6FA7-D03C32ED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85CC432-CE42-5385-5001-A1C7D60D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B40AF13-FDE9-F1B2-6C31-50476E76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66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D0A622-149E-E8D3-D4C6-52DDD517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B20C369-8447-F81E-5A0C-287CFD5A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ACF5DFD-4FFC-45A9-9AF5-0F59C5D8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62A3927-B906-C0BB-3285-4844D449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60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6BFA799-2EEB-391C-6DA5-62E52E4B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AB0A54-3548-1AD5-91F0-7F8A1864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DD60E7C-03AA-FF59-C8AD-C95FA423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6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1D63E8-96B3-8CBE-1A08-4D410E9A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39DDB3-F622-1AFC-8952-362AE344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FBFA61A-CA00-F220-13D5-1714E38E4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259A6F-7FC1-9DE7-C25D-26A1BBF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F4AD119-BF64-3024-7CA0-3D5303FC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FD52469-32F5-27A1-F959-A38CC2D5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35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4A5321-214B-5BE2-91A9-2F1B37AB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422B7A0-F551-5346-78DB-46DF2878D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659892C-856A-6913-C3E7-4B4004B33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6770F8-8E39-45CF-0B62-A209D821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BB60566-EB10-BA8C-83BF-7B8B5E29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7A117B-A2A6-E223-0478-C9CDD4A1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6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536C8D-3919-F6C0-E777-FAB25798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2CEA4D4-19EA-1862-0F96-B82E12FA5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36996F1-4E94-9FAA-C6DF-6735727E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9D84ED-AF0A-97EA-CCAF-32E0E043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BD4F29-30E0-7A2C-C2CD-AC577C2B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25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5A566C5-D2C2-6D1D-4D6E-3B7C34500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CCE7D27-4F0F-5064-00C5-6D4517525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A58E3BE-E18A-91F4-44C2-D0E1EFC8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2402C2-FB03-2449-4FE7-F735C761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4AE181-C4C8-3514-2397-ACD85449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65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A9DA2FE-15CD-5BD4-D30B-326D0E35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419DC9F-FF1F-D735-5928-FE9A0DBE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B8F1F8-AD9C-57CA-199B-6F1EC0A27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2E453-D685-4586-AF87-0ABDA9DFFD66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057D1E-1FD6-8EB4-DF3A-47C526434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2CAA89-270C-3D76-FADA-29E0A958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1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Poppins Bold" panose="00000800000000000000" pitchFamily="2" charset="-18"/>
                <a:cs typeface="Poppins Bold" panose="00000800000000000000" pitchFamily="2" charset="-18"/>
              </a:rPr>
              <a:t>Generative AI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7DAF07D-CDC9-C1F2-0D32-4FA75B3FB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45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F140456-47EE-9157-8335-5DA63E3E40B1}"/>
              </a:ext>
            </a:extLst>
          </p:cNvPr>
          <p:cNvSpPr txBox="1"/>
          <p:nvPr/>
        </p:nvSpPr>
        <p:spPr>
          <a:xfrm>
            <a:off x="407988" y="565805"/>
            <a:ext cx="1137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W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4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Agenda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FE70D87-7CD2-F74B-02FE-8FC044A1651E}"/>
              </a:ext>
            </a:extLst>
          </p:cNvPr>
          <p:cNvSpPr txBox="1"/>
          <p:nvPr/>
        </p:nvSpPr>
        <p:spPr>
          <a:xfrm>
            <a:off x="407988" y="1089026"/>
            <a:ext cx="11170293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On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Premise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Why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local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important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How to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launch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locally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?</a:t>
            </a:r>
            <a:endParaRPr lang="en-GB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>
              <a:lnSpc>
                <a:spcPct val="150000"/>
              </a:lnSpc>
            </a:pP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616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9F7A-6E23-EE3F-99DC-1678D975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0EA431C3-4551-3663-03FA-875316FA27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C45D78C-EFF7-4C05-30AD-951BD2AC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On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Premise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3201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946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y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local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important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?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22883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FBB2BE3F-B52C-CD92-C7B4-78329E917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2BCB1F6-65A1-4BD3-FFA0-16591B3EDAD7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Pros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Grafika 2" descr="Uniesiony kciuk">
            <a:extLst>
              <a:ext uri="{FF2B5EF4-FFF2-40B4-BE49-F238E27FC236}">
                <a16:creationId xmlns:a16="http://schemas.microsoft.com/office/drawing/2014/main" id="{96EB57E2-8A40-B112-DF4F-8CF02E53F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356" y="1489715"/>
            <a:ext cx="717885" cy="717885"/>
          </a:xfrm>
          <a:prstGeom prst="rect">
            <a:avLst/>
          </a:prstGeom>
        </p:spPr>
      </p:pic>
      <p:pic>
        <p:nvPicPr>
          <p:cNvPr id="4" name="Grafika 3" descr="Uniesiony kciuk">
            <a:extLst>
              <a:ext uri="{FF2B5EF4-FFF2-40B4-BE49-F238E27FC236}">
                <a16:creationId xmlns:a16="http://schemas.microsoft.com/office/drawing/2014/main" id="{F67E6581-DE72-BD6C-077A-3C5E2D90C2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474240" y="1489714"/>
            <a:ext cx="717885" cy="717885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9F11E044-58A9-5EF6-8941-4BEE0ABCA279}"/>
              </a:ext>
            </a:extLst>
          </p:cNvPr>
          <p:cNvSpPr txBox="1"/>
          <p:nvPr/>
        </p:nvSpPr>
        <p:spPr>
          <a:xfrm>
            <a:off x="513347" y="2207599"/>
            <a:ext cx="5358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Full data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privacy</a:t>
            </a:r>
            <a:endParaRPr lang="pl-PL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work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offline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Ability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underutilzed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infrastructure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.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Priv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GPUs</a:t>
            </a: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EB1CA99-9140-AF95-4746-43DE59E33DDD}"/>
              </a:ext>
            </a:extLst>
          </p:cNvPr>
          <p:cNvSpPr txBox="1"/>
          <p:nvPr/>
        </p:nvSpPr>
        <p:spPr>
          <a:xfrm>
            <a:off x="6425924" y="2207599"/>
            <a:ext cx="53580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Usually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limited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smaller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models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with 3-20B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params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on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normal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GPUs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Much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slower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SaaS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solutions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Needs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very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high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utilization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optimization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be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actually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cheaper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small SaaS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07108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9719FE89-0C90-6CD2-1DBB-6A14B75F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E02F7348-6920-E3F0-BDF2-0E0CC6F880A3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locally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 a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private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GPU 12-16 GB (with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some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quantization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92E66B7-9598-BC38-084A-92C37531A4F7}"/>
              </a:ext>
            </a:extLst>
          </p:cNvPr>
          <p:cNvSpPr txBox="1"/>
          <p:nvPr/>
        </p:nvSpPr>
        <p:spPr>
          <a:xfrm>
            <a:off x="481262" y="1597999"/>
            <a:ext cx="10186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3600" b="1" dirty="0">
                <a:latin typeface="Poppins" panose="00000500000000000000" pitchFamily="2" charset="-18"/>
                <a:cs typeface="Poppins" panose="00000500000000000000" pitchFamily="2" charset="-18"/>
              </a:rPr>
              <a:t>Gemma 3 12B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LLaMA</a:t>
            </a:r>
            <a:r>
              <a:rPr lang="en-GB" sz="3600" b="1" dirty="0">
                <a:latin typeface="Poppins" panose="00000500000000000000" pitchFamily="2" charset="-18"/>
                <a:cs typeface="Poppins" panose="00000500000000000000" pitchFamily="2" charset="-18"/>
              </a:rPr>
              <a:t> 13B</a:t>
            </a:r>
            <a:endParaRPr lang="pl-PL" sz="36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>
                <a:latin typeface="Poppins" panose="00000500000000000000" pitchFamily="2" charset="-18"/>
                <a:cs typeface="Poppins" panose="00000500000000000000" pitchFamily="2" charset="-18"/>
              </a:rPr>
              <a:t>Falcon 7B</a:t>
            </a:r>
            <a:endParaRPr lang="pl-PL" sz="36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>
                <a:latin typeface="Poppins" panose="00000500000000000000" pitchFamily="2" charset="-18"/>
                <a:cs typeface="Poppins" panose="00000500000000000000" pitchFamily="2" charset="-18"/>
              </a:rPr>
              <a:t>Bielik-11B-v2</a:t>
            </a:r>
          </a:p>
        </p:txBody>
      </p:sp>
    </p:spTree>
    <p:extLst>
      <p:ext uri="{BB962C8B-B14F-4D97-AF65-F5344CB8AC3E}">
        <p14:creationId xmlns:p14="http://schemas.microsoft.com/office/powerpoint/2010/main" val="3792931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EDDE0EA-6B28-D118-714E-1928985BA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D7DD1BE2-6154-48B6-69B9-2B544FDBF501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Quantization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??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3CD23E4-F391-1152-03D6-ACEBECB4F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57" y="1445030"/>
            <a:ext cx="1181926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Converting model weights from higher-precision (e.g. FP16 or FP32) </a:t>
            </a:r>
            <a:endParaRPr kumimoji="0" lang="pl-PL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 to fewer bits (e.g. 8-bit, 4-bit) to reduce memory usage and computational overhead</a:t>
            </a:r>
            <a:br>
              <a:rPr kumimoji="0" lang="pl-PL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Matters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VRAM Requirements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Fits larger models on smaller GPUs.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Inference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Fewer bits to process speeds up forward passes.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Reduced compute demands save power.</a:t>
            </a:r>
            <a:endParaRPr kumimoji="0" lang="pl-PL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 Quantization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Single scale factor per block of weights.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“K-Quant”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Multiple scales or per-channel scaling for better accuracy at the same bit depth.</a:t>
            </a:r>
            <a:endParaRPr kumimoji="0" lang="pl-PL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Trade-Offs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 vs.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Fewer bits can degrade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Complexity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Complex quantization methods often require specialized tooling.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98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C88CC-D318-F8CD-1DC7-8B5D4563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C5E349B4-A407-2F5C-FE96-11395B2830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85FB8F-E449-57AD-759B-6EB148680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Deploying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locally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201055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FE48A7C5-620F-13C4-92EE-15F460C0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7E0FADA0-22A4-07BE-8DC2-FC7826843FCB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LMMs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locally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BAFEF79-22DB-B022-5744-E83E7EF97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94" y="1825365"/>
            <a:ext cx="11784012" cy="32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4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8ED0080B-FFDC-B733-B190-9310A290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DCEB75F2-D34B-C032-69E1-0ECB7CE9E1E7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Hugging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face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transformers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3348D5F8-07E8-B9BE-0ED8-F99B932F3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75" y="1338262"/>
            <a:ext cx="73533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47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B8D6-9155-FC7C-7120-A188D6DE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5;g2ae502b7976_1_101">
            <a:extLst>
              <a:ext uri="{FF2B5EF4-FFF2-40B4-BE49-F238E27FC236}">
                <a16:creationId xmlns:a16="http://schemas.microsoft.com/office/drawing/2014/main" id="{BA21F094-37EE-A590-6315-24890070218A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LM Studio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EE7CE80-EA4E-3BEB-856E-AC84AB7BC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771" t="864"/>
          <a:stretch/>
        </p:blipFill>
        <p:spPr>
          <a:xfrm>
            <a:off x="885825" y="3163002"/>
            <a:ext cx="3121389" cy="16383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CD85138-DFF6-60BC-9F48-1580262A2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139" y="2491258"/>
            <a:ext cx="1695721" cy="380093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7A17DD57-1E43-602F-6C4F-90680BC50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74" y="2532892"/>
            <a:ext cx="3497492" cy="332222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35C2A3E-031D-EA84-3A1E-36BF00BE37D7}"/>
              </a:ext>
            </a:extLst>
          </p:cNvPr>
          <p:cNvSpPr txBox="1"/>
          <p:nvPr/>
        </p:nvSpPr>
        <p:spPr>
          <a:xfrm>
            <a:off x="885825" y="1371368"/>
            <a:ext cx="312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Choose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model</a:t>
            </a:r>
            <a:endParaRPr lang="en-GB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12F715A-100A-C7A7-ED32-8C07BCB8BCC3}"/>
              </a:ext>
            </a:extLst>
          </p:cNvPr>
          <p:cNvSpPr txBox="1"/>
          <p:nvPr/>
        </p:nvSpPr>
        <p:spPr>
          <a:xfrm>
            <a:off x="5063396" y="1362915"/>
            <a:ext cx="312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Setup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hyperparams</a:t>
            </a:r>
            <a:endParaRPr lang="en-GB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7C7A0B31-206A-F73D-C9DA-298E38AC3D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537"/>
          <a:stretch/>
        </p:blipFill>
        <p:spPr>
          <a:xfrm>
            <a:off x="8691049" y="4958463"/>
            <a:ext cx="3334331" cy="1333732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CEEC69B-42CE-8888-84BC-732B403F4090}"/>
              </a:ext>
            </a:extLst>
          </p:cNvPr>
          <p:cNvSpPr txBox="1"/>
          <p:nvPr/>
        </p:nvSpPr>
        <p:spPr>
          <a:xfrm>
            <a:off x="8401050" y="1360540"/>
            <a:ext cx="312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Chat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using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API 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UI</a:t>
            </a:r>
            <a:endParaRPr lang="en-GB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8054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43AB-A35D-9B19-72F5-68DEF89C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5;g2ae502b7976_1_101">
            <a:extLst>
              <a:ext uri="{FF2B5EF4-FFF2-40B4-BE49-F238E27FC236}">
                <a16:creationId xmlns:a16="http://schemas.microsoft.com/office/drawing/2014/main" id="{793B06AF-8EBD-D63C-66CE-54B7A1BD4686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LM Studio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exercise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6E84B03-A035-C6F0-C9AC-B1018F3EB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740"/>
          <a:stretch/>
        </p:blipFill>
        <p:spPr>
          <a:xfrm>
            <a:off x="6095988" y="0"/>
            <a:ext cx="6096012" cy="6858000"/>
          </a:xfrm>
          <a:prstGeom prst="rect">
            <a:avLst/>
          </a:prstGeom>
        </p:spPr>
      </p:pic>
      <p:sp>
        <p:nvSpPr>
          <p:cNvPr id="5" name="Symbol zastępczy zawartości 2">
            <a:extLst>
              <a:ext uri="{FF2B5EF4-FFF2-40B4-BE49-F238E27FC236}">
                <a16:creationId xmlns:a16="http://schemas.microsoft.com/office/drawing/2014/main" id="{0999D222-E70E-0CF6-97F0-06DCFA142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with Bonus-on-premise-LLMs.py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4171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C55B-C261-4411-9BC5-46C0E87B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31B700CE-EF26-4E53-925C-A27206A776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16A8D08-600B-4A03-ACDD-96E1621E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GenAI Voice Solutions</a:t>
            </a:r>
          </a:p>
        </p:txBody>
      </p:sp>
    </p:spTree>
    <p:extLst>
      <p:ext uri="{BB962C8B-B14F-4D97-AF65-F5344CB8AC3E}">
        <p14:creationId xmlns:p14="http://schemas.microsoft.com/office/powerpoint/2010/main" val="503038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>
          <a:extLst>
            <a:ext uri="{FF2B5EF4-FFF2-40B4-BE49-F238E27FC236}">
              <a16:creationId xmlns:a16="http://schemas.microsoft.com/office/drawing/2014/main" id="{B6E8A251-565A-41C1-BFC1-B5E53D26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FAAE4A3-D31A-4484-8F54-692E436D16B9}"/>
              </a:ext>
            </a:extLst>
          </p:cNvPr>
          <p:cNvSpPr txBox="1"/>
          <p:nvPr/>
        </p:nvSpPr>
        <p:spPr>
          <a:xfrm>
            <a:off x="407988" y="450000"/>
            <a:ext cx="11376000" cy="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are Voice AI Solutions?</a:t>
            </a:r>
            <a:endParaRPr sz="2800" b="1" dirty="0">
              <a:solidFill>
                <a:schemeClr val="dk1"/>
              </a:solidFill>
              <a:latin typeface="Poppins"/>
            </a:endParaRP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048DABD6-D5E5-4220-A078-31D3B1AC7867}"/>
              </a:ext>
            </a:extLst>
          </p:cNvPr>
          <p:cNvSpPr txBox="1"/>
          <p:nvPr/>
        </p:nvSpPr>
        <p:spPr>
          <a:xfrm>
            <a:off x="407988" y="1200000"/>
            <a:ext cx="11376000" cy="5000000"/>
          </a:xfrm>
          <a:prstGeom prst="rect">
            <a:avLst/>
          </a:prstGeom>
          <a:noFill/>
        </p:spPr>
        <p:txBody>
          <a:bodyPr wrap="square" lIns="91425" tIns="45700" rIns="91425" bIns="4570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Voice AI enables natural spoken conversations between humans and AI systems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Combines Speech Recognition (STT), Language Models (LLM), and Speech Synthesis (TTS)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Goal: Create human-like conversational experiences without typing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Key Components: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Speech-to-Text (STT): Converts spoken audio into text (e.g., Whisper, Deepgram)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Large Language Model (LLM): Processes text, generates intelligent responses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Text-to-Speech (TTS): Converts text responses into natural-sounding audio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5016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>
          <a:extLst>
            <a:ext uri="{FF2B5EF4-FFF2-40B4-BE49-F238E27FC236}">
              <a16:creationId xmlns:a16="http://schemas.microsoft.com/office/drawing/2014/main" id="{9888F00D-F51B-4D30-A53D-9EEC001B1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D4F8B16-B03E-4984-8CDD-9DB86EA01813}"/>
              </a:ext>
            </a:extLst>
          </p:cNvPr>
          <p:cNvSpPr txBox="1"/>
          <p:nvPr/>
        </p:nvSpPr>
        <p:spPr>
          <a:xfrm>
            <a:off x="407988" y="450000"/>
            <a:ext cx="11376000" cy="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Voice AI Use Cases</a:t>
            </a:r>
            <a:endParaRPr sz="2800" b="1" dirty="0">
              <a:solidFill>
                <a:schemeClr val="dk1"/>
              </a:solidFill>
              <a:latin typeface="Poppins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0A8C44C-A8FD-4DFF-A6DD-8B70F2E735EC}"/>
              </a:ext>
            </a:extLst>
          </p:cNvPr>
          <p:cNvSpPr txBox="1"/>
          <p:nvPr/>
        </p:nvSpPr>
        <p:spPr>
          <a:xfrm>
            <a:off x="407988" y="1050000"/>
            <a:ext cx="11376000" cy="400000"/>
          </a:xfrm>
          <a:prstGeom prst="rect">
            <a:avLst/>
          </a:prstGeom>
          <a:noFill/>
        </p:spPr>
        <p:txBody>
          <a:bodyPr wrap="square" lIns="91425" tIns="45700" rIns="91425" bIns="45700" anchor="t"/>
          <a:lstStyle/>
          <a:p>
            <a:r>
              <a:rPr lang="en-US" sz="1600" i="1" dirty="0">
                <a:solidFill>
                  <a:srgbClr val="666666"/>
                </a:solidFill>
                <a:latin typeface="Poppins" panose="00000500000000000000" pitchFamily="2" charset="-18"/>
              </a:rPr>
              <a:t>Real-world applications of conversational voice AI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E7F2CD4C-8E53-48B1-91F6-1EC288432DAF}"/>
              </a:ext>
            </a:extLst>
          </p:cNvPr>
          <p:cNvSpPr txBox="1"/>
          <p:nvPr/>
        </p:nvSpPr>
        <p:spPr>
          <a:xfrm>
            <a:off x="407988" y="1500000"/>
            <a:ext cx="11376000" cy="5000000"/>
          </a:xfrm>
          <a:prstGeom prst="rect">
            <a:avLst/>
          </a:prstGeom>
          <a:noFill/>
        </p:spPr>
        <p:txBody>
          <a:bodyPr wrap="square" lIns="91425" tIns="45700" rIns="91425" bIns="4570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Customer Service &amp; Support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AI phone agents for 24/7 customer support (e.g., banks, airlines, telecom)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Appointment scheduling and reservation systems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Healthcare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Patient intake and symptom screening via voice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Medication reminders and health monitoring assistants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Smart Assistants &amp; IoT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Home automation voice control (Alexa, Google Home, Siri)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In-car voice assistants for navigation and entertainment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Enterprise &amp; Productivity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Voice-driven meeting transcription and note-taking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Hands-free data entry and workflow automation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33796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>
          <a:extLst>
            <a:ext uri="{FF2B5EF4-FFF2-40B4-BE49-F238E27FC236}">
              <a16:creationId xmlns:a16="http://schemas.microsoft.com/office/drawing/2014/main" id="{208C1C28-EC0A-4D33-9AEF-25D1F1FB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163448-4995-46F9-B11E-DDD4AFE291FB}"/>
              </a:ext>
            </a:extLst>
          </p:cNvPr>
          <p:cNvSpPr txBox="1"/>
          <p:nvPr/>
        </p:nvSpPr>
        <p:spPr>
          <a:xfrm>
            <a:off x="407988" y="450000"/>
            <a:ext cx="11376000" cy="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Voice AI Architectures</a:t>
            </a:r>
            <a:endParaRPr sz="2800" b="1" dirty="0">
              <a:solidFill>
                <a:schemeClr val="dk1"/>
              </a:solidFill>
              <a:latin typeface="Poppins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263BF1C-ACC9-4FC7-BCCC-F8469C1B5D17}"/>
              </a:ext>
            </a:extLst>
          </p:cNvPr>
          <p:cNvSpPr txBox="1"/>
          <p:nvPr/>
        </p:nvSpPr>
        <p:spPr>
          <a:xfrm>
            <a:off x="407988" y="1050000"/>
            <a:ext cx="11376000" cy="400000"/>
          </a:xfrm>
          <a:prstGeom prst="rect">
            <a:avLst/>
          </a:prstGeom>
          <a:noFill/>
        </p:spPr>
        <p:txBody>
          <a:bodyPr wrap="square" lIns="91425" tIns="45700" rIns="91425" bIns="45700" anchor="t"/>
          <a:lstStyle/>
          <a:p>
            <a:r>
              <a:rPr lang="en-US" sz="1600" i="1" dirty="0">
                <a:solidFill>
                  <a:srgbClr val="666666"/>
                </a:solidFill>
                <a:latin typeface="Poppins" panose="00000500000000000000" pitchFamily="2" charset="-18"/>
              </a:rPr>
              <a:t>Two main approaches to building voice AI systems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AC728600-A70B-4877-822F-19F2195DB628}"/>
              </a:ext>
            </a:extLst>
          </p:cNvPr>
          <p:cNvSpPr txBox="1"/>
          <p:nvPr/>
        </p:nvSpPr>
        <p:spPr>
          <a:xfrm>
            <a:off x="407988" y="1500000"/>
            <a:ext cx="11376000" cy="5000000"/>
          </a:xfrm>
          <a:prstGeom prst="rect">
            <a:avLst/>
          </a:prstGeom>
          <a:noFill/>
        </p:spPr>
        <p:txBody>
          <a:bodyPr wrap="square" lIns="91425" tIns="45700" rIns="91425" bIns="4570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3-Phase Pipeline (STT → LLM → TTS)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Audio → Speech-to-Text → LLM processes text → Text-to-Speech → Audio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Each component is separate and can be optimized independently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Total latency = STT latency + LLM latency + TTS latency (typically 1-3+ seconds)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Realtime Voice-to-Voice (Speech-to-Speech)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Single model processes audio directly without intermediate text conversion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Examples: GPT-4o Realtime API, Gemini 2.0 Live, Moshi by Kyutai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Native understanding of tone, emotion, and paralinguistic cues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Latency as low as 200-500ms for near-instant responses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9690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>
          <a:extLst>
            <a:ext uri="{FF2B5EF4-FFF2-40B4-BE49-F238E27FC236}">
              <a16:creationId xmlns:a16="http://schemas.microsoft.com/office/drawing/2014/main" id="{72734098-95E6-481D-AD38-5EC88F9F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9D11B79-530B-4F31-B427-36B2B6E5A760}"/>
              </a:ext>
            </a:extLst>
          </p:cNvPr>
          <p:cNvSpPr txBox="1"/>
          <p:nvPr/>
        </p:nvSpPr>
        <p:spPr>
          <a:xfrm>
            <a:off x="407988" y="450000"/>
            <a:ext cx="11376000" cy="550000"/>
          </a:xfrm>
          <a:prstGeom prst="rect">
            <a:avLst/>
          </a:prstGeom>
          <a:noFill/>
        </p:spPr>
        <p:txBody>
          <a:bodyPr wrap="square" lIns="91425" tIns="45700" rIns="91425" bIns="4570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3-Phase vs Realtime: Pros and Cons</a:t>
            </a:r>
          </a:p>
        </p:txBody>
      </p:sp>
      <p:sp>
        <p:nvSpPr>
          <p:cNvPr id="3" name="Left Header">
            <a:extLst>
              <a:ext uri="{FF2B5EF4-FFF2-40B4-BE49-F238E27FC236}">
                <a16:creationId xmlns:a16="http://schemas.microsoft.com/office/drawing/2014/main" id="{0D9B0936-4D9C-4B15-9320-6F00A3BCD2DD}"/>
              </a:ext>
            </a:extLst>
          </p:cNvPr>
          <p:cNvSpPr txBox="1"/>
          <p:nvPr/>
        </p:nvSpPr>
        <p:spPr>
          <a:xfrm>
            <a:off x="407988" y="1200000"/>
            <a:ext cx="5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000" b="1" dirty="0">
                <a:solidFill>
                  <a:srgbClr val="002060"/>
                </a:solidFill>
                <a:latin typeface="Poppins"/>
              </a:rPr>
              <a:t>3-Phase Pipeline (STT-LLM-TTS)</a:t>
            </a:r>
          </a:p>
        </p:txBody>
      </p:sp>
      <p:sp>
        <p:nvSpPr>
          <p:cNvPr id="4" name="Left Content">
            <a:extLst>
              <a:ext uri="{FF2B5EF4-FFF2-40B4-BE49-F238E27FC236}">
                <a16:creationId xmlns:a16="http://schemas.microsoft.com/office/drawing/2014/main" id="{28E48D9B-10F1-4D4E-B279-4FD982DFD3CD}"/>
              </a:ext>
            </a:extLst>
          </p:cNvPr>
          <p:cNvSpPr txBox="1"/>
          <p:nvPr/>
        </p:nvSpPr>
        <p:spPr>
          <a:xfrm>
            <a:off x="407988" y="1650000"/>
            <a:ext cx="5500000" cy="4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Flexible: swap components easily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Mature ecosystem with many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Better text accuracy for complex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Easier to debug and monitor each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Works with any LLM (GPT-4, Claude,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Higher latency (1-3+ seconds total)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Loses audio context (tone, emotion)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Cannot handle overlapping speech well</a:t>
            </a:r>
          </a:p>
        </p:txBody>
      </p:sp>
      <p:sp>
        <p:nvSpPr>
          <p:cNvPr id="5" name="Right Header">
            <a:extLst>
              <a:ext uri="{FF2B5EF4-FFF2-40B4-BE49-F238E27FC236}">
                <a16:creationId xmlns:a16="http://schemas.microsoft.com/office/drawing/2014/main" id="{9E427B11-D9B4-461C-B306-2657E9826367}"/>
              </a:ext>
            </a:extLst>
          </p:cNvPr>
          <p:cNvSpPr txBox="1"/>
          <p:nvPr/>
        </p:nvSpPr>
        <p:spPr>
          <a:xfrm>
            <a:off x="6200000" y="1200000"/>
            <a:ext cx="5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000" b="1" dirty="0">
                <a:solidFill>
                  <a:srgbClr val="002060"/>
                </a:solidFill>
                <a:latin typeface="Poppins"/>
              </a:rPr>
              <a:t>Realtime Voice-to-Voice</a:t>
            </a:r>
          </a:p>
        </p:txBody>
      </p:sp>
      <p:sp>
        <p:nvSpPr>
          <p:cNvPr id="6" name="Right Content">
            <a:extLst>
              <a:ext uri="{FF2B5EF4-FFF2-40B4-BE49-F238E27FC236}">
                <a16:creationId xmlns:a16="http://schemas.microsoft.com/office/drawing/2014/main" id="{874D83DD-1134-48E9-BACA-E943AB8EDEE5}"/>
              </a:ext>
            </a:extLst>
          </p:cNvPr>
          <p:cNvSpPr txBox="1"/>
          <p:nvPr/>
        </p:nvSpPr>
        <p:spPr>
          <a:xfrm>
            <a:off x="6200000" y="1650000"/>
            <a:ext cx="5500000" cy="4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Ultra-low latency (~200-500ms)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Natural interruption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Preserves emotional/tonal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More human-like conversations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Better for real-time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Limited model options currently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Higher compute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-18"/>
                <a:cs typeface="Poppins" panose="00000500000000000000" pitchFamily="2" charset="-18"/>
              </a:rPr>
              <a:t>Less control over individual steps</a:t>
            </a:r>
          </a:p>
        </p:txBody>
      </p:sp>
    </p:spTree>
    <p:extLst>
      <p:ext uri="{BB962C8B-B14F-4D97-AF65-F5344CB8AC3E}">
        <p14:creationId xmlns:p14="http://schemas.microsoft.com/office/powerpoint/2010/main" val="2772466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>
          <a:extLst>
            <a:ext uri="{FF2B5EF4-FFF2-40B4-BE49-F238E27FC236}">
              <a16:creationId xmlns:a16="http://schemas.microsoft.com/office/drawing/2014/main" id="{7C163E34-E40C-402B-AEA0-40F169A4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C53C032-A002-424F-917D-57D828948994}"/>
              </a:ext>
            </a:extLst>
          </p:cNvPr>
          <p:cNvSpPr txBox="1"/>
          <p:nvPr/>
        </p:nvSpPr>
        <p:spPr>
          <a:xfrm>
            <a:off x="407988" y="450000"/>
            <a:ext cx="11376000" cy="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Handling Streaming &amp; Interruptions</a:t>
            </a:r>
            <a:endParaRPr sz="2800" b="1" dirty="0">
              <a:solidFill>
                <a:schemeClr val="dk1"/>
              </a:solidFill>
              <a:latin typeface="Poppins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F6B1A7C-ABD1-4423-92CD-03E171F4442F}"/>
              </a:ext>
            </a:extLst>
          </p:cNvPr>
          <p:cNvSpPr txBox="1"/>
          <p:nvPr/>
        </p:nvSpPr>
        <p:spPr>
          <a:xfrm>
            <a:off x="407988" y="1050000"/>
            <a:ext cx="11376000" cy="400000"/>
          </a:xfrm>
          <a:prstGeom prst="rect">
            <a:avLst/>
          </a:prstGeom>
          <a:noFill/>
        </p:spPr>
        <p:txBody>
          <a:bodyPr wrap="square" lIns="91425" tIns="45700" rIns="91425" bIns="45700" anchor="t"/>
          <a:lstStyle/>
          <a:p>
            <a:r>
              <a:rPr lang="en-US" sz="1600" i="1" dirty="0">
                <a:solidFill>
                  <a:srgbClr val="666666"/>
                </a:solidFill>
                <a:latin typeface="Poppins" panose="00000500000000000000" pitchFamily="2" charset="-18"/>
              </a:rPr>
              <a:t>Critical techniques for responsive voice AI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F375811C-DD70-4D4C-AAFD-D2FF622D8304}"/>
              </a:ext>
            </a:extLst>
          </p:cNvPr>
          <p:cNvSpPr txBox="1"/>
          <p:nvPr/>
        </p:nvSpPr>
        <p:spPr>
          <a:xfrm>
            <a:off x="407988" y="1500000"/>
            <a:ext cx="11376000" cy="5000000"/>
          </a:xfrm>
          <a:prstGeom prst="rect">
            <a:avLst/>
          </a:prstGeom>
          <a:noFill/>
        </p:spPr>
        <p:txBody>
          <a:bodyPr wrap="square" lIns="91425" tIns="45700" rIns="91425" bIns="4570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Streaming for Low Latency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Stream STT results incrementally (partial transcripts)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Use LLM streaming to start TTS before full response is generated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Chunk TTS audio and play as it’s generated (don’t wait for full audio)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Result: User hears response while it’s still being generated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Handling Interruptions (Barge-in)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Voice Activity Detection (VAD): Detect when user starts speaking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Immediately stop current TTS playback when interruption detected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Cancel pending LLM generation to save resources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Process new user input and restart the pipeline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Best Practices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Use WebSockets or gRPC for real-time bidirectional communication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Implement echo cancellation to avoid AI hearing its own voice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-18"/>
                <a:cs typeface="Poppins" panose="00000500000000000000" pitchFamily="2" charset="-18"/>
              </a:rPr>
              <a:t>Buffer management: balance between latency and audio quality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6836359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783</Words>
  <Application>Microsoft Office PowerPoint</Application>
  <PresentationFormat>Panoramiczny</PresentationFormat>
  <Paragraphs>117</Paragraphs>
  <Slides>18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Poppins</vt:lpstr>
      <vt:lpstr>Poppins Bold</vt:lpstr>
      <vt:lpstr>Motyw pakietu Office</vt:lpstr>
      <vt:lpstr>Generative AI</vt:lpstr>
      <vt:lpstr>Prezentacja programu PowerPoint</vt:lpstr>
      <vt:lpstr>On Premise LLMs</vt:lpstr>
      <vt:lpstr>Why local LLMs are important?</vt:lpstr>
      <vt:lpstr>Prezentacja programu PowerPoint</vt:lpstr>
      <vt:lpstr>Prezentacja programu PowerPoint</vt:lpstr>
      <vt:lpstr>Prezentacja programu PowerPoint</vt:lpstr>
      <vt:lpstr>Deploying LLMs locally</vt:lpstr>
      <vt:lpstr>Prezentacja programu PowerPoint</vt:lpstr>
      <vt:lpstr>Prezentacja programu PowerPoint</vt:lpstr>
      <vt:lpstr>Prezentacja programu PowerPoint</vt:lpstr>
      <vt:lpstr>Prezentacja programu PowerPoint</vt:lpstr>
      <vt:lpstr>GenAI Voice Solutions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majewski</dc:creator>
  <cp:lastModifiedBy>jan majewski</cp:lastModifiedBy>
  <cp:revision>13</cp:revision>
  <dcterms:created xsi:type="dcterms:W3CDTF">2025-03-24T19:53:29Z</dcterms:created>
  <dcterms:modified xsi:type="dcterms:W3CDTF">2026-01-16T19:16:38Z</dcterms:modified>
</cp:coreProperties>
</file>