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62" r:id="rId3"/>
    <p:sldId id="380" r:id="rId4"/>
    <p:sldId id="315" r:id="rId5"/>
    <p:sldId id="369" r:id="rId6"/>
    <p:sldId id="370" r:id="rId7"/>
    <p:sldId id="371" r:id="rId8"/>
    <p:sldId id="372" r:id="rId9"/>
    <p:sldId id="374" r:id="rId10"/>
    <p:sldId id="408" r:id="rId11"/>
    <p:sldId id="375" r:id="rId12"/>
    <p:sldId id="394" r:id="rId13"/>
    <p:sldId id="373" r:id="rId14"/>
    <p:sldId id="376" r:id="rId15"/>
    <p:sldId id="377" r:id="rId16"/>
    <p:sldId id="378" r:id="rId17"/>
    <p:sldId id="395" r:id="rId18"/>
    <p:sldId id="379" r:id="rId19"/>
    <p:sldId id="381" r:id="rId20"/>
    <p:sldId id="396" r:id="rId21"/>
    <p:sldId id="409" r:id="rId22"/>
    <p:sldId id="397" r:id="rId23"/>
    <p:sldId id="382" r:id="rId24"/>
    <p:sldId id="398" r:id="rId25"/>
    <p:sldId id="410" r:id="rId26"/>
    <p:sldId id="407" r:id="rId27"/>
    <p:sldId id="399" r:id="rId28"/>
    <p:sldId id="418" r:id="rId29"/>
    <p:sldId id="414" r:id="rId30"/>
    <p:sldId id="415" r:id="rId31"/>
    <p:sldId id="416" r:id="rId32"/>
    <p:sldId id="417" r:id="rId33"/>
    <p:sldId id="402" r:id="rId34"/>
    <p:sldId id="403" r:id="rId35"/>
    <p:sldId id="405" r:id="rId36"/>
    <p:sldId id="404" r:id="rId37"/>
    <p:sldId id="406" r:id="rId38"/>
    <p:sldId id="400" r:id="rId39"/>
    <p:sldId id="401" r:id="rId40"/>
    <p:sldId id="411" r:id="rId41"/>
    <p:sldId id="413" r:id="rId42"/>
    <p:sldId id="41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1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14" autoAdjust="0"/>
    <p:restoredTop sz="94179" autoAdjust="0"/>
  </p:normalViewPr>
  <p:slideViewPr>
    <p:cSldViewPr snapToGrid="0" showGuides="1">
      <p:cViewPr varScale="1">
        <p:scale>
          <a:sx n="87" d="100"/>
          <a:sy n="87" d="100"/>
        </p:scale>
        <p:origin x="84" y="1674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28T14:39:55.469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AD13C-532C-48A9-AF48-A57AEED0EC6D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6E63F-5599-483C-B362-002622C1C3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4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757758-081E-6510-4705-A97908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D377DC19-55AE-E119-AE77-29D4D06D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84B412-18B2-B69B-2BF4-9B12E695B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2A4377-BA8A-EE83-B79F-36E5E7C6D2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3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757758-081E-6510-4705-A97908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D377DC19-55AE-E119-AE77-29D4D06D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84B412-18B2-B69B-2BF4-9B12E695B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2A4377-BA8A-EE83-B79F-36E5E7C6D2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3741900-0A7C-E470-46F4-338B3BBE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69C5C29-90FE-FEDB-3388-1249984B4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1B6FD439-71FB-57F0-2DC4-1464FE74E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259C32DE-89AB-DE02-70B9-148DB7B3EE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511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CD24C44-DFA7-6318-7CF9-07D52C71C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FD276D1-3080-FBAB-1D63-46FF40ACA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099663E-03E3-26A5-78A0-8BC26BFA9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4EB30CE1-EA4C-3B2D-30B0-6643DE1A0E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7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22121867-D0BC-9C30-B53A-1AFAA348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905E30D8-4F4C-E535-7580-D110DF84A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5E76D06C-15EA-35A3-0256-04B8E75FC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8209ADF-5001-A726-E7CC-4E956F9F20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9884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6FDB165-D2B9-6322-0ABE-4F717BA14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604A3165-B345-CE7E-385D-7F3823BDC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C2D4E44-FFC5-0AB7-FE0D-AD00F8BB9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6335C9-3894-771A-7B7B-00F4629DEB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26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6B15FC3-2FD3-C317-2FB2-F7AC9D1C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787E1F7A-FF67-4263-D5B2-3ABA39A02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310A4BF8-EC8F-45E7-E499-64ED62FDF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AE1B771-8382-C5F2-A671-8BA2E5E75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661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169DF197-7429-8E95-6026-3289E794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4C00092-673D-1276-90E9-DB43EE628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2004D05-5CD1-CDC7-E711-902CA6066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D85BB85-B811-A624-80E0-B7258650E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751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F467E64-8CFB-F321-0273-CC8B0388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22F86A8-3C6C-10D1-EA8D-0C0FE987D9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0A796B96-89F8-3E07-F732-1E332A4DF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F38B1D8D-3F16-5C06-DD14-D54176428B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453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110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ADAE-6CC3-B2C6-00C3-E3A8E1A7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1578CD9-B4DA-DF0B-2FDB-7EF3AF00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D39446E-21FE-1C28-F38D-9C35533D3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DE01DFE-51B0-7C77-62FA-0BAD7348B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941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095A-1AE9-DF3A-991A-6A92771D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0BDA625-E0C6-2BBF-3EB3-B8B34893B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C236BD3-E844-4D3A-598A-9F57E6CC8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86035E3-09FE-CB3B-B72F-0D14E4D1D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858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34CD-A94F-DE0D-94B6-951A01D8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34CD3AE-3A97-C18E-0CE9-28612E64B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541C049-AFEE-D211-E453-88348265A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8688865-4B37-D91B-67BC-F3A2D6827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975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2CD0-CFFA-E140-0BF6-8AFFEC4E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AA5AD59-350E-80A7-DE83-1025B801B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F60DB92-A23B-6AD9-FF81-B5ACAE4FD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80D53E2-F0DF-BD65-1944-C2296DFE9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6E63F-5599-483C-B362-002622C1C35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6117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B3D632E-7B6F-DA92-9AF8-F050AD83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8123A87C-84F8-4687-C543-7A1CE2E17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00EDE241-E2E1-782E-9B65-E2EAAE29D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BDCB123-6C5D-4894-6ACE-DD6D2C7357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7050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DC10454-E13E-4746-9625-48F35E26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7B3174C-F2CA-ED04-F5A0-95A3154614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420249F-EE4C-5D4D-F471-8B15BB4E0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D447E72B-99F9-D2CA-ED3C-8A104EB815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297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1273464-C0EF-31FF-E1BC-ED14026D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F7719332-5E25-4F6E-735F-0481CE817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6761C9C6-5387-28F4-26DF-7FC9ECFC2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9FAC4C17-C673-5297-794B-90DEC4EC8F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605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690AE2A4-5F90-0AA1-ED6E-9E7E7DD4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BE6126C8-E46D-7340-3394-0B6BF2C39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A013DE81-89BA-CDF8-310F-71320A434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38872554-70B9-2B14-1448-6A0EA6BA96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54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C20CA-7094-6932-E112-20023456A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43348C5-4C50-9CA8-5C66-A833EB86C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0F9289-7582-040B-BE1A-7AE6C3EB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5CF7BAA-20F1-9D64-F431-7F15A31B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E73A4-7DCB-1D17-B825-B6E346F9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1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4497D-75C4-B1E9-631D-85FD82CA7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D709BD-3954-A939-4AFF-481C1C54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45E7AA-257D-4CEA-1326-03DA6DD1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89609E-18AD-801E-BFF9-C7CF4635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E16A70-41E2-9449-D7DA-FCD94DE84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5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A5D9B-9FF4-FF59-12BC-8D0B755C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4ABE00F-650E-8F2B-E5C7-63618575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DB3F7AA-07C9-6760-92FE-71283159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89707BC-1142-05BC-44BF-C45A2EC55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643DFB3-C128-AF09-1AA0-C5ECC2B9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8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63A4D-F1C6-19E2-D7DB-42547A2B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71EBF9-009B-3A97-E8FA-DDC0AE785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E984B5F-30C6-F068-32F9-47C45014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F678B5-B253-73B2-702C-A7E5D44F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6C99AAC-589E-25AC-E4B6-12EFB09C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23CA0A-17C6-B83C-5F2F-5D674AF1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2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B48774-8536-928E-E456-2215E557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7831BF-B813-5601-BD11-25D496512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DA94BC-61C4-094B-1610-03B29E5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567B359-79EB-FEAE-2B45-AC8E57E7A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3CF0982-F7F3-5D75-EDDB-7C1F5DFA3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DDD37D5-ACA0-87FB-6FA7-D03C32ED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85CC432-CE42-5385-5001-A1C7D60D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B40AF13-FDE9-F1B2-6C31-50476E76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6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0A622-149E-E8D3-D4C6-52DDD51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B20C369-8447-F81E-5A0C-287CFD5A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CF5DFD-4FFC-45A9-9AF5-0F59C5D8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62A3927-B906-C0BB-3285-4844D449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0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6BFA799-2EEB-391C-6DA5-62E52E4B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AB0A54-3548-1AD5-91F0-7F8A1864C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DD60E7C-03AA-FF59-C8AD-C95FA423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06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1D63E8-96B3-8CBE-1A08-4D410E9A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39DDB3-F622-1AFC-8952-362AE344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FBFA61A-CA00-F220-13D5-1714E38E4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259A6F-7FC1-9DE7-C25D-26A1BBF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F4AD119-BF64-3024-7CA0-3D5303F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D52469-32F5-27A1-F959-A38CC2D5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35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4A5321-214B-5BE2-91A9-2F1B37AB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422B7A0-F551-5346-78DB-46DF2878D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659892C-856A-6913-C3E7-4B4004B33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770F8-8E39-45CF-0B62-A209D821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BB60566-EB10-BA8C-83BF-7B8B5E29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A117B-A2A6-E223-0478-C9CDD4A1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6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536C8D-3919-F6C0-E777-FAB25798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2CEA4D4-19EA-1862-0F96-B82E12FA5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6996F1-4E94-9FAA-C6DF-6735727E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29D84ED-AF0A-97EA-CCAF-32E0E043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D4F29-30E0-7A2C-C2CD-AC577C2B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5A566C5-D2C2-6D1D-4D6E-3B7C34500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CE7D27-4F0F-5064-00C5-6D451752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A58E3BE-E18A-91F4-44C2-D0E1EFC8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2402C2-FB03-2449-4FE7-F735C76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04AE181-C4C8-3514-2397-ACD85449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5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A9DA2FE-15CD-5BD4-D30B-326D0E35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419DC9F-FF1F-D735-5928-FE9A0DBE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CB8F1F8-AD9C-57CA-199B-6F1EC0A27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E453-D685-4586-AF87-0ABDA9DFFD66}" type="datetimeFigureOut">
              <a:rPr lang="en-GB" smtClean="0"/>
              <a:t>09/01/2026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057D1E-1FD6-8EB4-DF3A-47C526434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32CAA89-270C-3D76-FADA-29E0A95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C943C-7598-489F-93C7-8AB83350E7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mith.langchain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Poppins Bold" panose="00000800000000000000" pitchFamily="2" charset="-18"/>
                <a:cs typeface="Poppins Bold" panose="00000800000000000000" pitchFamily="2" charset="-18"/>
              </a:rPr>
              <a:t>Generative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DAF07D-CDC9-C1F2-0D32-4FA75B3F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4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40456-47EE-9157-8335-5DA63E3E40B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W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3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Agenda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FE70D87-7CD2-F74B-02FE-8FC044A1651E}"/>
              </a:ext>
            </a:extLst>
          </p:cNvPr>
          <p:cNvSpPr txBox="1"/>
          <p:nvPr/>
        </p:nvSpPr>
        <p:spPr>
          <a:xfrm>
            <a:off x="407988" y="1089026"/>
            <a:ext cx="11170293" cy="4665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orchestration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Combining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monitor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AI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Agents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AI Agent?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actions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End of Course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Assignment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endParaRPr lang="en-GB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Biggest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challengs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building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How to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balance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performance,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costs</a:t>
            </a:r>
            <a:r>
              <a:rPr lang="pl-PL" sz="2000" b="1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latency</a:t>
            </a:r>
            <a:endParaRPr lang="pl-PL" sz="2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616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9F7A-6E23-EE3F-99DC-1678D9751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0EA431C3-4551-3663-03FA-875316FA27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45D78C-EFF7-4C05-30AD-951BD2AC9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orchestration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3201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946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Combining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2883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D14CFA-FA0A-5255-98A1-AEA6874E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C2F07F6-58B4-E122-FE44-8F5D2E682BF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single,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clear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for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complex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better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split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tchem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Strzałka: pagon 3">
            <a:extLst>
              <a:ext uri="{FF2B5EF4-FFF2-40B4-BE49-F238E27FC236}">
                <a16:creationId xmlns:a16="http://schemas.microsoft.com/office/drawing/2014/main" id="{1CA6708F-4360-F202-B7BE-138978F2A0EF}"/>
              </a:ext>
            </a:extLst>
          </p:cNvPr>
          <p:cNvSpPr/>
          <p:nvPr/>
        </p:nvSpPr>
        <p:spPr>
          <a:xfrm>
            <a:off x="763010" y="1798522"/>
            <a:ext cx="3469875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Split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flows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Strzałka: pagon 4">
            <a:extLst>
              <a:ext uri="{FF2B5EF4-FFF2-40B4-BE49-F238E27FC236}">
                <a16:creationId xmlns:a16="http://schemas.microsoft.com/office/drawing/2014/main" id="{4EA9CDC5-5158-8A9C-E331-CEE5BFDEE5CC}"/>
              </a:ext>
            </a:extLst>
          </p:cNvPr>
          <p:cNvSpPr/>
          <p:nvPr/>
        </p:nvSpPr>
        <p:spPr>
          <a:xfrm>
            <a:off x="3982573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specific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goal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Strzałka: pagon 5">
            <a:extLst>
              <a:ext uri="{FF2B5EF4-FFF2-40B4-BE49-F238E27FC236}">
                <a16:creationId xmlns:a16="http://schemas.microsoft.com/office/drawing/2014/main" id="{98DED284-725F-D787-33C4-343D0A1E8ADA}"/>
              </a:ext>
            </a:extLst>
          </p:cNvPr>
          <p:cNvSpPr/>
          <p:nvPr/>
        </p:nvSpPr>
        <p:spPr>
          <a:xfrm>
            <a:off x="6504754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LLM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attention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focused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Strzałka: pagon 6">
            <a:extLst>
              <a:ext uri="{FF2B5EF4-FFF2-40B4-BE49-F238E27FC236}">
                <a16:creationId xmlns:a16="http://schemas.microsoft.com/office/drawing/2014/main" id="{89D26135-E28D-DB92-A7CE-5E3FEB8C3662}"/>
              </a:ext>
            </a:extLst>
          </p:cNvPr>
          <p:cNvSpPr/>
          <p:nvPr/>
        </p:nvSpPr>
        <p:spPr>
          <a:xfrm>
            <a:off x="9040031" y="1798522"/>
            <a:ext cx="2785589" cy="1053679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Ability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route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downstream</a:t>
            </a:r>
            <a:r>
              <a:rPr lang="pl-PL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endParaRPr lang="en-GB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1B13591E-5D4B-FA53-7BF1-D80F4962F6D1}"/>
              </a:ext>
            </a:extLst>
          </p:cNvPr>
          <p:cNvSpPr/>
          <p:nvPr/>
        </p:nvSpPr>
        <p:spPr>
          <a:xfrm>
            <a:off x="763010" y="3027815"/>
            <a:ext cx="5213896" cy="326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5E11A35-2DDC-22E2-0E2F-55B35C96F1D4}"/>
              </a:ext>
            </a:extLst>
          </p:cNvPr>
          <p:cNvSpPr txBox="1"/>
          <p:nvPr/>
        </p:nvSpPr>
        <p:spPr>
          <a:xfrm>
            <a:off x="968499" y="3228844"/>
            <a:ext cx="51275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job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done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smaller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Performing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.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mining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validation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scoring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the same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time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leads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worst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dillution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lead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worse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4242FAE-AA98-89A2-3B72-168760B2EA9E}"/>
              </a:ext>
            </a:extLst>
          </p:cNvPr>
          <p:cNvSpPr txBox="1"/>
          <p:nvPr/>
        </p:nvSpPr>
        <p:spPr>
          <a:xfrm>
            <a:off x="6096000" y="3228844"/>
            <a:ext cx="51275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from one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stage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power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following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even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route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taken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with routing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save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making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faster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cheaper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attentive</a:t>
            </a:r>
            <a:b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programtaic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validation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between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6106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D14CFA-FA0A-5255-98A1-AEA6874E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F9B9282A-83F9-6756-2CB7-B73714FB07D7}"/>
              </a:ext>
            </a:extLst>
          </p:cNvPr>
          <p:cNvSpPr/>
          <p:nvPr/>
        </p:nvSpPr>
        <p:spPr>
          <a:xfrm>
            <a:off x="620038" y="1565753"/>
            <a:ext cx="11436263" cy="64633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Solving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taken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the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sales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meeting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transcript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mutliple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example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C2F07F6-58B4-E122-FE44-8F5D2E682BF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different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roles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e.g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Miner/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Extractor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Judge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Quality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Assurance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622F7FC-8041-0CE3-6DE9-C50EF15B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" t="4880" b="4717"/>
          <a:stretch/>
        </p:blipFill>
        <p:spPr>
          <a:xfrm>
            <a:off x="7064679" y="2212084"/>
            <a:ext cx="4434395" cy="4624977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63AAD64-AC94-D694-E951-A187A992EB64}"/>
              </a:ext>
            </a:extLst>
          </p:cNvPr>
          <p:cNvSpPr txBox="1"/>
          <p:nvPr/>
        </p:nvSpPr>
        <p:spPr>
          <a:xfrm>
            <a:off x="692926" y="2502333"/>
            <a:ext cx="55512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Imagine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 30 min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recording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best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1-3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 100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possibilities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With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much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context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hard to do in single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But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we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candidate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first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select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really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in 2nd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focused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LLM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1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directly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for LLM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2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narrow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down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search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criteria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831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BB2BE3F-B52C-CD92-C7B4-78329E91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2BCB1F6-65A1-4BD3-FFA0-16591B3EDAD7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Modyfing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programatically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between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predictable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BF8B9DF-978C-6DE7-D742-06B624B8A562}"/>
              </a:ext>
            </a:extLst>
          </p:cNvPr>
          <p:cNvSpPr txBox="1"/>
          <p:nvPr/>
        </p:nvSpPr>
        <p:spPr>
          <a:xfrm>
            <a:off x="544701" y="1819665"/>
            <a:ext cx="55512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solve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problem in a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few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lines of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, DO NOT USE a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multi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B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params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match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values</a:t>
            </a:r>
            <a:r>
              <a:rPr lang="pl-PL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finite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list,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fuzzy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match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implement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like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loose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matching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doing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programatically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instead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anything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between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+/- 10% from X 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0CB5C38-6FE8-08B6-D8CB-09CC34DAC313}"/>
              </a:ext>
            </a:extLst>
          </p:cNvPr>
          <p:cNvSpPr txBox="1"/>
          <p:nvPr/>
        </p:nvSpPr>
        <p:spPr>
          <a:xfrm>
            <a:off x="6344433" y="1703540"/>
            <a:ext cx="5302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Example</a:t>
            </a:r>
            <a:r>
              <a:rPr lang="pl-PL" dirty="0"/>
              <a:t> of </a:t>
            </a:r>
            <a:r>
              <a:rPr lang="pl-PL" dirty="0" err="1"/>
              <a:t>guardrails</a:t>
            </a:r>
            <a:r>
              <a:rPr lang="pl-PL" dirty="0"/>
              <a:t> </a:t>
            </a:r>
            <a:r>
              <a:rPr lang="pl-PL" dirty="0" err="1"/>
              <a:t>funciton</a:t>
            </a:r>
            <a:r>
              <a:rPr lang="pl-PL" dirty="0"/>
              <a:t> for LLM </a:t>
            </a:r>
            <a:r>
              <a:rPr lang="pl-PL" dirty="0" err="1"/>
              <a:t>powered</a:t>
            </a:r>
            <a:r>
              <a:rPr lang="pl-PL" dirty="0"/>
              <a:t> real </a:t>
            </a:r>
            <a:r>
              <a:rPr lang="pl-PL" dirty="0" err="1"/>
              <a:t>estate</a:t>
            </a:r>
            <a:r>
              <a:rPr lang="pl-PL" dirty="0"/>
              <a:t> </a:t>
            </a:r>
            <a:r>
              <a:rPr lang="pl-PL" dirty="0" err="1"/>
              <a:t>search</a:t>
            </a:r>
            <a:endParaRPr lang="en-GB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4BD7A0A4-4011-39E8-A2AE-9054E1FB2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86" y="2349871"/>
            <a:ext cx="5613343" cy="19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08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1C886363-A79A-54A7-A0C5-7B005616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F627C305-0C5D-8A08-73D8-A06F07525F65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Modyfing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outputs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programatically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between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predictable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8FDDAD6-B4CF-5D82-9FD8-8098C7554ABE}"/>
              </a:ext>
            </a:extLst>
          </p:cNvPr>
          <p:cNvSpPr txBox="1"/>
          <p:nvPr/>
        </p:nvSpPr>
        <p:spPr>
          <a:xfrm>
            <a:off x="298210" y="1712103"/>
            <a:ext cx="609805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is a framework for developing applications powered by large language models (LLMs).</a:t>
            </a:r>
          </a:p>
          <a:p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simplifies every stage of the LLM application lifecycle:</a:t>
            </a:r>
          </a:p>
          <a:p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Development: Build your applications using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LangChain's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open-source components and third-party integrations. Use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to build stateful agents with first-class streaming and human-in-the-loop support.</a:t>
            </a:r>
          </a:p>
          <a:p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Productionization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: Use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LangSmith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to inspect, monitor and evaluate your applications, so that you can continuously optimize and deploy with confidence.</a:t>
            </a:r>
          </a:p>
          <a:p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Deployment: Turn your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applications into production-ready APIs and Assistants with </a:t>
            </a:r>
            <a:r>
              <a:rPr lang="en-GB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LangGraph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 Platform.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Source: langchain.com</a:t>
            </a:r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F246197-2651-503E-D2F3-26FEED5A1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011577"/>
            <a:ext cx="56769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1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403ED86-BB6C-903E-1B05-8A6659EF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7D9CE62-168F-7F9C-BDF9-5F37F2D36D4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[1/2]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5BD5DBE-0480-39E7-AE91-B5A064A98281}"/>
              </a:ext>
            </a:extLst>
          </p:cNvPr>
          <p:cNvSpPr txBox="1"/>
          <p:nvPr/>
        </p:nvSpPr>
        <p:spPr>
          <a:xfrm>
            <a:off x="556248" y="1339840"/>
            <a:ext cx="55397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LLM (</a:t>
            </a:r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Large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 Language Model)</a:t>
            </a:r>
          </a:p>
          <a:p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Core building block that provides text generation and reasoning capabilities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Abstracted in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via classes like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BaseChatOpenAI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and others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Handles prompting, token limits, and output generation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be configured with parameters like temperature,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max_tokens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and model name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Acts as the "brain" that processes textual inputs and generates responses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51E384B-E7C5-EDBE-B9C1-1A8C4C16A4C9}"/>
              </a:ext>
            </a:extLst>
          </p:cNvPr>
          <p:cNvSpPr txBox="1"/>
          <p:nvPr/>
        </p:nvSpPr>
        <p:spPr>
          <a:xfrm>
            <a:off x="6360148" y="1339840"/>
            <a:ext cx="55397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Prompts</a:t>
            </a:r>
            <a:b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Templates for generating instructions to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incorporate variables using f-strings or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template syntax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Structured via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ChatPromptTemplate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HumanMessagePromptTemplate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Support different message types (system, human, assistant)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include examples for few-shot learning</a:t>
            </a:r>
          </a:p>
        </p:txBody>
      </p:sp>
    </p:spTree>
    <p:extLst>
      <p:ext uri="{BB962C8B-B14F-4D97-AF65-F5344CB8AC3E}">
        <p14:creationId xmlns:p14="http://schemas.microsoft.com/office/powerpoint/2010/main" val="3260329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AF5B2952-4AF0-B990-6360-6553D6AB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401C6AE-5EF8-B4D8-1763-FAEBE703609E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[2/2]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013D9DE-B234-C23C-4F83-83CA119A0EAA}"/>
              </a:ext>
            </a:extLst>
          </p:cNvPr>
          <p:cNvSpPr txBox="1"/>
          <p:nvPr/>
        </p:nvSpPr>
        <p:spPr>
          <a:xfrm>
            <a:off x="556248" y="1352540"/>
            <a:ext cx="553974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Chain</a:t>
            </a:r>
          </a:p>
          <a:p>
            <a:pPr>
              <a:spcBef>
                <a:spcPts val="1200"/>
              </a:spcBef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Connects multiple components in a processing pipeline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sequential execution of operations on data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Can combine prompts, LLMs, and other tools in a reusable workflow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Allows for modular, reusable components that can be composed together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Chains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consists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chains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creating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readable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levels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abstraction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618CF4FA-F449-359B-E901-54A93F99B0D6}"/>
              </a:ext>
            </a:extLst>
          </p:cNvPr>
          <p:cNvSpPr txBox="1"/>
          <p:nvPr/>
        </p:nvSpPr>
        <p:spPr>
          <a:xfrm>
            <a:off x="6096012" y="1352540"/>
            <a:ext cx="59054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RunnableBranch</a:t>
            </a:r>
            <a:r>
              <a:rPr lang="pl-PL" b="1" dirty="0">
                <a:latin typeface="Poppins" panose="00000500000000000000" pitchFamily="2" charset="-18"/>
                <a:cs typeface="Poppins" panose="00000500000000000000" pitchFamily="2" charset="-18"/>
              </a:rPr>
              <a:t>: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Provides conditional logic in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Routes execution based on predicates (conditions)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Takes a list of (condition, runnable) pairs and a default runnable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dynamic, conditional processing paths</a:t>
            </a:r>
            <a:b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b="1" dirty="0" err="1">
                <a:latin typeface="Poppins" panose="00000500000000000000" pitchFamily="2" charset="-18"/>
                <a:cs typeface="Poppins" panose="00000500000000000000" pitchFamily="2" charset="-18"/>
              </a:rPr>
              <a:t>RunnablePassthrough</a:t>
            </a:r>
            <a:endParaRPr lang="pl-PL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Passes inputs through without 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Often used with .assign() to add new fields to the data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Maintains existing data while adding or transforming specific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Helps manage state throughout a complex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Enables data transformation without losing context</a:t>
            </a:r>
          </a:p>
        </p:txBody>
      </p:sp>
    </p:spTree>
    <p:extLst>
      <p:ext uri="{BB962C8B-B14F-4D97-AF65-F5344CB8AC3E}">
        <p14:creationId xmlns:p14="http://schemas.microsoft.com/office/powerpoint/2010/main" val="183712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9139B5-061F-BCB3-7137-05AD20E1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8953D1C9-76C5-5C90-6E07-F7CB894F31C1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6206C15-99F8-3609-C36F-C3049AEC5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580" y="1648520"/>
            <a:ext cx="5238408" cy="3671986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D7B1326-23CE-29BD-38E8-13C6B581C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05" y="1648520"/>
            <a:ext cx="4869304" cy="2626301"/>
          </a:xfrm>
          <a:prstGeom prst="rect">
            <a:avLst/>
          </a:prstGeom>
        </p:spPr>
      </p:pic>
      <p:sp>
        <p:nvSpPr>
          <p:cNvPr id="8" name="Prostokąt 7">
            <a:extLst>
              <a:ext uri="{FF2B5EF4-FFF2-40B4-BE49-F238E27FC236}">
                <a16:creationId xmlns:a16="http://schemas.microsoft.com/office/drawing/2014/main" id="{D111B700-C1E3-D5E8-EFBB-EF6467604D5D}"/>
              </a:ext>
            </a:extLst>
          </p:cNvPr>
          <p:cNvSpPr/>
          <p:nvPr/>
        </p:nvSpPr>
        <p:spPr>
          <a:xfrm>
            <a:off x="3312857" y="3987861"/>
            <a:ext cx="1061023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BF082BCA-5FEA-8054-C812-6DF3270572FD}"/>
              </a:ext>
            </a:extLst>
          </p:cNvPr>
          <p:cNvSpPr/>
          <p:nvPr/>
        </p:nvSpPr>
        <p:spPr>
          <a:xfrm>
            <a:off x="1984275" y="3973922"/>
            <a:ext cx="926566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82058D5B-452D-F22A-4679-3C5D1DCC8999}"/>
              </a:ext>
            </a:extLst>
          </p:cNvPr>
          <p:cNvSpPr/>
          <p:nvPr/>
        </p:nvSpPr>
        <p:spPr>
          <a:xfrm>
            <a:off x="2971800" y="3987861"/>
            <a:ext cx="281940" cy="1955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ymek mowy: prostokąt z zaokrąglonymi rogami 10">
            <a:extLst>
              <a:ext uri="{FF2B5EF4-FFF2-40B4-BE49-F238E27FC236}">
                <a16:creationId xmlns:a16="http://schemas.microsoft.com/office/drawing/2014/main" id="{38146588-B3B6-38F9-34D9-B216B5603EFD}"/>
              </a:ext>
            </a:extLst>
          </p:cNvPr>
          <p:cNvSpPr/>
          <p:nvPr/>
        </p:nvSpPr>
        <p:spPr>
          <a:xfrm>
            <a:off x="655320" y="4985226"/>
            <a:ext cx="1935480" cy="670560"/>
          </a:xfrm>
          <a:prstGeom prst="wedgeRoundRectCallout">
            <a:avLst>
              <a:gd name="adj1" fmla="val 41150"/>
              <a:gd name="adj2" fmla="val -148750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gives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sets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argument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Dymek mowy: prostokąt z zaokrąglonymi rogami 12">
            <a:extLst>
              <a:ext uri="{FF2B5EF4-FFF2-40B4-BE49-F238E27FC236}">
                <a16:creationId xmlns:a16="http://schemas.microsoft.com/office/drawing/2014/main" id="{043B625E-597A-8D5B-1E86-141601D29BAD}"/>
              </a:ext>
            </a:extLst>
          </p:cNvPr>
          <p:cNvSpPr/>
          <p:nvPr/>
        </p:nvSpPr>
        <p:spPr>
          <a:xfrm>
            <a:off x="4038600" y="4753134"/>
            <a:ext cx="1935480" cy="670560"/>
          </a:xfrm>
          <a:prstGeom prst="wedgeRoundRectCallout">
            <a:avLst>
              <a:gd name="adj1" fmla="val -49007"/>
              <a:gd name="adj2" fmla="val -126023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Parser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makes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sure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final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a JSON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4" name="Dymek mowy: prostokąt z zaokrąglonymi rogami 13">
            <a:extLst>
              <a:ext uri="{FF2B5EF4-FFF2-40B4-BE49-F238E27FC236}">
                <a16:creationId xmlns:a16="http://schemas.microsoft.com/office/drawing/2014/main" id="{2C2E19AC-B9F3-4F66-7CF2-16F0B9FB7096}"/>
              </a:ext>
            </a:extLst>
          </p:cNvPr>
          <p:cNvSpPr/>
          <p:nvPr/>
        </p:nvSpPr>
        <p:spPr>
          <a:xfrm>
            <a:off x="2590800" y="5554980"/>
            <a:ext cx="1935480" cy="670560"/>
          </a:xfrm>
          <a:prstGeom prst="wedgeRoundRectCallout">
            <a:avLst>
              <a:gd name="adj1" fmla="val -21448"/>
              <a:gd name="adj2" fmla="val -221477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manages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used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599997F2-AB78-C5D7-C1CE-EE6017F48BAE}"/>
              </a:ext>
            </a:extLst>
          </p:cNvPr>
          <p:cNvSpPr/>
          <p:nvPr/>
        </p:nvSpPr>
        <p:spPr>
          <a:xfrm>
            <a:off x="6853579" y="2371121"/>
            <a:ext cx="4009963" cy="20713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F87F2DBE-41E2-6F21-B79C-9EEFE78C05CE}"/>
              </a:ext>
            </a:extLst>
          </p:cNvPr>
          <p:cNvSpPr/>
          <p:nvPr/>
        </p:nvSpPr>
        <p:spPr>
          <a:xfrm>
            <a:off x="6853579" y="1955922"/>
            <a:ext cx="3319121" cy="3783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525E5CE4-1F6E-5B00-32C9-C69E4D8E55A2}"/>
              </a:ext>
            </a:extLst>
          </p:cNvPr>
          <p:cNvSpPr/>
          <p:nvPr/>
        </p:nvSpPr>
        <p:spPr>
          <a:xfrm>
            <a:off x="7229304" y="565805"/>
            <a:ext cx="2684316" cy="932150"/>
          </a:xfrm>
          <a:prstGeom prst="wedgeRoundRectCallout">
            <a:avLst>
              <a:gd name="adj1" fmla="val -10424"/>
              <a:gd name="adj2" fmla="val 10579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Runable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Passhtorugh.asisgn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fetches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output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one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sub-chain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be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fed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8" name="Dymek mowy: prostokąt z zaokrąglonymi rogami 17">
            <a:extLst>
              <a:ext uri="{FF2B5EF4-FFF2-40B4-BE49-F238E27FC236}">
                <a16:creationId xmlns:a16="http://schemas.microsoft.com/office/drawing/2014/main" id="{47682D3C-21F3-D0ED-D30C-C4597DA5129B}"/>
              </a:ext>
            </a:extLst>
          </p:cNvPr>
          <p:cNvSpPr/>
          <p:nvPr/>
        </p:nvSpPr>
        <p:spPr>
          <a:xfrm>
            <a:off x="6977844" y="5360045"/>
            <a:ext cx="2684316" cy="932150"/>
          </a:xfrm>
          <a:prstGeom prst="wedgeRoundRectCallout">
            <a:avLst>
              <a:gd name="adj1" fmla="val -20927"/>
              <a:gd name="adj2" fmla="val -142714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RunableBranch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Executes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one off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possible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value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1050" dirty="0" err="1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previous</a:t>
            </a:r>
            <a:r>
              <a:rPr lang="pl-PL" sz="1050" dirty="0">
                <a:solidFill>
                  <a:schemeClr val="tx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step</a:t>
            </a:r>
            <a:endParaRPr lang="en-GB" sz="1050" dirty="0">
              <a:solidFill>
                <a:schemeClr val="tx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69939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B8E6-89FB-85A0-0396-913E4689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B5A46C-EB62-A3E9-1D02-3174F8F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in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 W3-llm-flows-and-monitoring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F05A09-3E8A-64B5-D349-11472EEF93D3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Introduction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53E9843-2998-0208-48C4-3570CD4A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537"/>
          <a:stretch/>
        </p:blipFill>
        <p:spPr>
          <a:xfrm>
            <a:off x="5606751" y="0"/>
            <a:ext cx="6585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4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7105-86C0-3F50-F0D9-5D548F830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12129D-F3C7-95EB-6DCE-695E9FF73F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Flow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Monitoring</a:t>
            </a:r>
          </a:p>
        </p:txBody>
      </p:sp>
    </p:spTree>
    <p:extLst>
      <p:ext uri="{BB962C8B-B14F-4D97-AF65-F5344CB8AC3E}">
        <p14:creationId xmlns:p14="http://schemas.microsoft.com/office/powerpoint/2010/main" val="221838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EBCB3DFD-F73C-0108-4C99-9D9864BD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10CDB34-8F0F-051E-BFF5-DD11F30A04A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Langsmith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EA5840-932C-849E-C6CD-E7774B2FC3C7}"/>
              </a:ext>
            </a:extLst>
          </p:cNvPr>
          <p:cNvSpPr txBox="1"/>
          <p:nvPr/>
        </p:nvSpPr>
        <p:spPr>
          <a:xfrm>
            <a:off x="556260" y="1524000"/>
            <a:ext cx="4937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Go to 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  <a:hlinkClick r:id="rId3"/>
              </a:rPr>
              <a:t>https://smith.langchain.com/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Make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free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account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Go to Set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Tracing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Generate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API_KEY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Copy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first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snippet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Paste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.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env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file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Remove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„” for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strings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as .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env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file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does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not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tchem</a:t>
            </a:r>
          </a:p>
          <a:p>
            <a:pPr marL="342900" indent="-342900">
              <a:buAutoNum type="arabicPeriod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Change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project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meaningful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3A03333-9722-BA2B-4320-AFD497302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52" y="1539240"/>
            <a:ext cx="5075381" cy="1877705"/>
          </a:xfrm>
          <a:prstGeom prst="rect">
            <a:avLst/>
          </a:prstGeom>
        </p:spPr>
      </p:pic>
      <p:sp>
        <p:nvSpPr>
          <p:cNvPr id="6" name="Strzałka: pagon 5">
            <a:extLst>
              <a:ext uri="{FF2B5EF4-FFF2-40B4-BE49-F238E27FC236}">
                <a16:creationId xmlns:a16="http://schemas.microsoft.com/office/drawing/2014/main" id="{4E49381D-4695-151F-D020-76DC4257DB53}"/>
              </a:ext>
            </a:extLst>
          </p:cNvPr>
          <p:cNvSpPr/>
          <p:nvPr/>
        </p:nvSpPr>
        <p:spPr>
          <a:xfrm rot="5400000">
            <a:off x="8115300" y="3231892"/>
            <a:ext cx="739140" cy="156972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FF12FDD-72E1-27B5-40CC-64889F778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097" y="4616559"/>
            <a:ext cx="41243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0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64A97EAB-1B39-13D9-EDDE-B7E1BBFC1654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navigate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full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FEFA56CF-03FE-072D-BF91-8F1207903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257350"/>
            <a:ext cx="10713720" cy="526834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184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E238A58-D6C5-E1CB-09FB-763C9621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32657D3-EFF1-4CBB-1E66-D9B797854AAB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Debugging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through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logs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EE41955-276A-3648-814E-D482797338C1}"/>
              </a:ext>
            </a:extLst>
          </p:cNvPr>
          <p:cNvSpPr txBox="1"/>
          <p:nvPr/>
        </p:nvSpPr>
        <p:spPr>
          <a:xfrm>
            <a:off x="556248" y="1352540"/>
            <a:ext cx="93573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As 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flows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become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multiple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non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deterministic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inputs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(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. from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previous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steps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)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logging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crucial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understand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their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mistakes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Due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non-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deterministic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nature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often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easier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debug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replicate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states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Minor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mistakes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such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as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incorrect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setup of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some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inputs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missing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easiest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find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logs</a:t>
            </a:r>
            <a:b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Small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upstream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changes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lead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significant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shifts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2-3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further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547858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FD52-D4C9-2E54-83E8-66328374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34AEE0-9692-50BA-C902-B16BCDD7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Rerun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W3-llm-flows-and-monitoring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after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setting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up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langchain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84D427E-81CA-7AC7-AE52-B74D8B05F2E2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F66653E-0072-E5EF-50FB-E140CF8A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103" b="10272"/>
          <a:stretch/>
        </p:blipFill>
        <p:spPr>
          <a:xfrm>
            <a:off x="6588221" y="441324"/>
            <a:ext cx="4784776" cy="57689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84BF8E1A-23C8-AFD9-C92A-67A12ED9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38" y="3790949"/>
            <a:ext cx="5968742" cy="24193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328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DDEB4-B5BC-8A4E-BDB8-F26CFEF1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43E4A182-F5E2-1CA4-4169-F75B1BAE1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B940D8B-656F-1FC7-935E-A3E084CE1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AI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Agents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44596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00CE-AE26-66E9-B4D7-2DE288E97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6FAAC0-BD28-75BE-8629-B19FE44EE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AI Agent?</a:t>
            </a:r>
          </a:p>
        </p:txBody>
      </p:sp>
    </p:spTree>
    <p:extLst>
      <p:ext uri="{BB962C8B-B14F-4D97-AF65-F5344CB8AC3E}">
        <p14:creationId xmlns:p14="http://schemas.microsoft.com/office/powerpoint/2010/main" val="3734513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67B6-3818-5208-C59C-23D5DA90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E70AD038-E3FD-2469-4CD4-8615F2506E05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F75D75D-41A2-E751-C93C-DBEF069E0C72}"/>
              </a:ext>
            </a:extLst>
          </p:cNvPr>
          <p:cNvSpPr txBox="1"/>
          <p:nvPr/>
        </p:nvSpPr>
        <p:spPr>
          <a:xfrm>
            <a:off x="387177" y="1396666"/>
            <a:ext cx="4608983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What Are AI Agents?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Autonomous systems powered by AI that can perceive their environment, make decisions, and take actions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Combine LLMs with the ability to use tools and execute tasks over multiple steps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Designed to achieve specific goals with varying degrees of autonomy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serves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as the `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brain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` of the system, but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connected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classical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programs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databases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, email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166EBFC-AE48-4DF8-0BBF-C6C09058360E}"/>
              </a:ext>
            </a:extLst>
          </p:cNvPr>
          <p:cNvSpPr txBox="1"/>
          <p:nvPr/>
        </p:nvSpPr>
        <p:spPr>
          <a:xfrm>
            <a:off x="6095999" y="1396666"/>
            <a:ext cx="5543167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 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Contextual Memory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Short and long-term memory systems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Reasoning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Ability to make logical inferences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Learning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Improving performance through experience</a:t>
            </a:r>
            <a:b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Multimodal Understanding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Processing different types of inputs (text, images, etc.)</a:t>
            </a:r>
          </a:p>
        </p:txBody>
      </p:sp>
    </p:spTree>
    <p:extLst>
      <p:ext uri="{BB962C8B-B14F-4D97-AF65-F5344CB8AC3E}">
        <p14:creationId xmlns:p14="http://schemas.microsoft.com/office/powerpoint/2010/main" val="418167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A026-42E2-93A8-2D27-61FB90037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DEEEFDF1-9E62-6594-2E1F-B5CE0ABB87F5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Interacting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online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through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improvements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powerful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60DC7EE-E983-523D-5B3D-0BC622473CC6}"/>
              </a:ext>
            </a:extLst>
          </p:cNvPr>
          <p:cNvSpPr txBox="1"/>
          <p:nvPr/>
        </p:nvSpPr>
        <p:spPr>
          <a:xfrm>
            <a:off x="6579894" y="1841201"/>
            <a:ext cx="4838015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How AI Agents Use Tools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Integration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Access to APIs, databases, code execution, web browsing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Selection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Choose appropriate tools based on the current task requirements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Chaining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Coordinate multiple tools to solve complex problems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Tool Augmentation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Overcome LLM limitations (computation, up-to-date info, specific actions)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25C67B3-2B3C-D5DE-4718-E0F51BD6AA8F}"/>
              </a:ext>
            </a:extLst>
          </p:cNvPr>
          <p:cNvSpPr txBox="1"/>
          <p:nvPr/>
        </p:nvSpPr>
        <p:spPr>
          <a:xfrm>
            <a:off x="365161" y="1841201"/>
            <a:ext cx="609499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Iterative Decision Making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Plan-Execute-Reflect Loop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Form a plan, take actions, evaluate results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Self-Correction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Adjust strategy based on feedback and outcomes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Decomposition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Break complex tasks into manageable subtasks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Memory Management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Maintain context across multiple decision points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Re-planning</a:t>
            </a: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Update approach when facing unexpected obstacles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15597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2F2F-FFD7-AF90-72B2-428D355A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36817153-81E1-92CC-D092-2B955C502F4C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Autonomy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applications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D41063D-F9F0-37EA-D2F1-CBF31334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642" y="1564534"/>
            <a:ext cx="7866289" cy="5145147"/>
          </a:xfrm>
          <a:prstGeom prst="rect">
            <a:avLst/>
          </a:prstGeom>
        </p:spPr>
      </p:pic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238DBAEB-B934-327C-64A8-594FBEA93AC2}"/>
              </a:ext>
            </a:extLst>
          </p:cNvPr>
          <p:cNvCxnSpPr/>
          <p:nvPr/>
        </p:nvCxnSpPr>
        <p:spPr>
          <a:xfrm>
            <a:off x="3238500" y="3822700"/>
            <a:ext cx="6102350" cy="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78554F0-E133-821E-E5EB-667DB9AC0F39}"/>
              </a:ext>
            </a:extLst>
          </p:cNvPr>
          <p:cNvSpPr/>
          <p:nvPr/>
        </p:nvSpPr>
        <p:spPr>
          <a:xfrm>
            <a:off x="8788400" y="3228975"/>
            <a:ext cx="2749550" cy="118745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Everything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below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this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line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currently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called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agent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41367756-F4F5-F025-262A-4A745B83B3D9}"/>
              </a:ext>
            </a:extLst>
          </p:cNvPr>
          <p:cNvSpPr/>
          <p:nvPr/>
        </p:nvSpPr>
        <p:spPr>
          <a:xfrm>
            <a:off x="266700" y="5715979"/>
            <a:ext cx="3968750" cy="729775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Level 6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Autonomy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without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any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control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still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extremely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rare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25628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3072C-2414-99B5-61CC-9E587499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5416-9CC5-5C41-4D7B-E9D80324A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4713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Empowering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take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actions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7861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5F00-8FEF-3727-6365-9476640A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0FFA2FBF-5DC7-D61F-D04F-ED61D5814543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58C5A12-6E05-8C9C-2064-75B80DA4FE6F}"/>
              </a:ext>
            </a:extLst>
          </p:cNvPr>
          <p:cNvSpPr txBox="1"/>
          <p:nvPr/>
        </p:nvSpPr>
        <p:spPr>
          <a:xfrm>
            <a:off x="556247" y="1352540"/>
            <a:ext cx="10531609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powerfull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just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tools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allow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interact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online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world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Databases, Email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anything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trigger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with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script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enable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leverage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data for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answers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by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query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API, SQL Databases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etc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Tools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improve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reliability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where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typically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fail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Math,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Physics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Word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Counting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Dates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smart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enough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calculator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should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try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replicate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??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266050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313C-3C20-B6E8-7F6A-9622D5E86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50A86249-ECCB-ACF7-4183-708A3397252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into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iterative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LLM Agent?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1C43D87-A615-0F8C-4155-ADDABEDB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1" y="1465997"/>
            <a:ext cx="9183435" cy="52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23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98B8-365B-D44B-EE0F-5CFAC0BD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C4D1B42C-EDCA-FEDB-96A6-4CC35442B2FE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from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perspective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E0065F9F-E841-EFB7-AF3E-7E69AAFA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8" y="2005191"/>
            <a:ext cx="4011160" cy="171700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AF69855-982F-7CA6-203E-833ACFCE1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8" y="4399366"/>
            <a:ext cx="4011160" cy="230789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E73EFFB-6C09-C743-1EFD-8F3D033A9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62" y="1757396"/>
            <a:ext cx="4233539" cy="19215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7BADC22-7CB0-D4F7-84AC-2529B1107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162" y="4762186"/>
            <a:ext cx="4233539" cy="170784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602251F-4260-83E8-68BD-791E43F72B7C}"/>
              </a:ext>
            </a:extLst>
          </p:cNvPr>
          <p:cNvSpPr/>
          <p:nvPr/>
        </p:nvSpPr>
        <p:spPr>
          <a:xfrm>
            <a:off x="407988" y="1164921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#1</a:t>
            </a:r>
            <a:endParaRPr lang="en-GB" dirty="0"/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64ACB37-D0A4-6825-643B-7FB158B97518}"/>
              </a:ext>
            </a:extLst>
          </p:cNvPr>
          <p:cNvSpPr/>
          <p:nvPr/>
        </p:nvSpPr>
        <p:spPr>
          <a:xfrm>
            <a:off x="6518787" y="1164018"/>
            <a:ext cx="3926910" cy="38307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Call #2</a:t>
            </a:r>
            <a:endParaRPr lang="en-GB" dirty="0"/>
          </a:p>
        </p:txBody>
      </p:sp>
      <p:sp>
        <p:nvSpPr>
          <p:cNvPr id="16" name="Dymek mowy: prostokąt z zaokrąglonymi rogami 15">
            <a:extLst>
              <a:ext uri="{FF2B5EF4-FFF2-40B4-BE49-F238E27FC236}">
                <a16:creationId xmlns:a16="http://schemas.microsoft.com/office/drawing/2014/main" id="{B8E3E138-173A-5F0C-96FF-9390C6A4CF8B}"/>
              </a:ext>
            </a:extLst>
          </p:cNvPr>
          <p:cNvSpPr/>
          <p:nvPr/>
        </p:nvSpPr>
        <p:spPr>
          <a:xfrm>
            <a:off x="4578263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sees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available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tools</a:t>
            </a:r>
            <a:r>
              <a:rPr lang="pl-PL" sz="1200" dirty="0">
                <a:solidFill>
                  <a:schemeClr val="tx1"/>
                </a:solidFill>
              </a:rPr>
              <a:t> in </a:t>
            </a:r>
            <a:r>
              <a:rPr lang="pl-PL" sz="1200" dirty="0" err="1">
                <a:solidFill>
                  <a:schemeClr val="tx1"/>
                </a:solidFill>
              </a:rPr>
              <a:t>prompt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together</a:t>
            </a:r>
            <a:r>
              <a:rPr lang="pl-PL" sz="1200" dirty="0">
                <a:solidFill>
                  <a:schemeClr val="tx1"/>
                </a:solidFill>
              </a:rPr>
              <a:t> with </a:t>
            </a:r>
            <a:r>
              <a:rPr lang="pl-PL" sz="1200" dirty="0" err="1">
                <a:solidFill>
                  <a:schemeClr val="tx1"/>
                </a:solidFill>
              </a:rPr>
              <a:t>usage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guideliness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7" name="Dymek mowy: prostokąt z zaokrąglonymi rogami 16">
            <a:extLst>
              <a:ext uri="{FF2B5EF4-FFF2-40B4-BE49-F238E27FC236}">
                <a16:creationId xmlns:a16="http://schemas.microsoft.com/office/drawing/2014/main" id="{20C454B7-DBAF-8028-09BB-592F77384C3E}"/>
              </a:ext>
            </a:extLst>
          </p:cNvPr>
          <p:cNvSpPr/>
          <p:nvPr/>
        </p:nvSpPr>
        <p:spPr>
          <a:xfrm>
            <a:off x="4578263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LLM </a:t>
            </a:r>
            <a:r>
              <a:rPr lang="pl-PL" sz="1200" dirty="0" err="1">
                <a:solidFill>
                  <a:schemeClr val="tx1"/>
                </a:solidFill>
              </a:rPr>
              <a:t>decides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use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-&gt; 1st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just</a:t>
            </a:r>
            <a:r>
              <a:rPr lang="pl-PL" sz="1200" dirty="0">
                <a:solidFill>
                  <a:schemeClr val="tx1"/>
                </a:solidFill>
              </a:rPr>
              <a:t>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trigger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8" name="Dymek mowy: prostokąt z zaokrąglonymi rogami 17">
            <a:extLst>
              <a:ext uri="{FF2B5EF4-FFF2-40B4-BE49-F238E27FC236}">
                <a16:creationId xmlns:a16="http://schemas.microsoft.com/office/drawing/2014/main" id="{2759CA9E-1CE3-848B-2B50-1DCF1E414CDA}"/>
              </a:ext>
            </a:extLst>
          </p:cNvPr>
          <p:cNvSpPr/>
          <p:nvPr/>
        </p:nvSpPr>
        <p:spPr>
          <a:xfrm>
            <a:off x="10603282" y="2005191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>
                <a:solidFill>
                  <a:schemeClr val="tx1"/>
                </a:solidFill>
              </a:rPr>
              <a:t>1st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triggering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execution</a:t>
            </a:r>
            <a:r>
              <a:rPr lang="pl-PL" sz="1200" dirty="0">
                <a:solidFill>
                  <a:schemeClr val="tx1"/>
                </a:solidFill>
              </a:rPr>
              <a:t> and a </a:t>
            </a:r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9" name="Dymek mowy: prostokąt z zaokrąglonymi rogami 18">
            <a:extLst>
              <a:ext uri="{FF2B5EF4-FFF2-40B4-BE49-F238E27FC236}">
                <a16:creationId xmlns:a16="http://schemas.microsoft.com/office/drawing/2014/main" id="{353863FC-A3A8-CE73-0DCF-BD3C6FBFD803}"/>
              </a:ext>
            </a:extLst>
          </p:cNvPr>
          <p:cNvSpPr/>
          <p:nvPr/>
        </p:nvSpPr>
        <p:spPr>
          <a:xfrm>
            <a:off x="10603282" y="4767587"/>
            <a:ext cx="1415698" cy="1772433"/>
          </a:xfrm>
          <a:prstGeom prst="wedgeRoundRectCallout">
            <a:avLst>
              <a:gd name="adj1" fmla="val -56623"/>
              <a:gd name="adj2" fmla="val 22635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200" dirty="0" err="1">
                <a:solidFill>
                  <a:schemeClr val="tx1"/>
                </a:solidFill>
              </a:rPr>
              <a:t>Tool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output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is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fed</a:t>
            </a:r>
            <a:r>
              <a:rPr lang="pl-PL" sz="1200" dirty="0">
                <a:solidFill>
                  <a:schemeClr val="tx1"/>
                </a:solidFill>
              </a:rPr>
              <a:t> to 2nd LLM </a:t>
            </a:r>
            <a:r>
              <a:rPr lang="pl-PL" sz="1200" dirty="0" err="1">
                <a:solidFill>
                  <a:schemeClr val="tx1"/>
                </a:solidFill>
              </a:rPr>
              <a:t>call</a:t>
            </a:r>
            <a:r>
              <a:rPr lang="pl-PL" sz="1200" dirty="0">
                <a:solidFill>
                  <a:schemeClr val="tx1"/>
                </a:solidFill>
              </a:rPr>
              <a:t> to </a:t>
            </a:r>
            <a:r>
              <a:rPr lang="pl-PL" sz="1200" dirty="0" err="1">
                <a:solidFill>
                  <a:schemeClr val="tx1"/>
                </a:solidFill>
              </a:rPr>
              <a:t>power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final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response</a:t>
            </a:r>
            <a:r>
              <a:rPr lang="pl-PL" sz="1200" dirty="0">
                <a:solidFill>
                  <a:schemeClr val="tx1"/>
                </a:solidFill>
              </a:rPr>
              <a:t>, </a:t>
            </a:r>
            <a:r>
              <a:rPr lang="pl-PL" sz="1200" dirty="0" err="1">
                <a:solidFill>
                  <a:schemeClr val="tx1"/>
                </a:solidFill>
              </a:rPr>
              <a:t>or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trigerring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another</a:t>
            </a:r>
            <a:r>
              <a:rPr lang="pl-PL" sz="1200" dirty="0">
                <a:solidFill>
                  <a:schemeClr val="tx1"/>
                </a:solidFill>
              </a:rPr>
              <a:t> </a:t>
            </a:r>
            <a:r>
              <a:rPr lang="pl-PL" sz="1200" dirty="0" err="1">
                <a:solidFill>
                  <a:schemeClr val="tx1"/>
                </a:solidFill>
              </a:rPr>
              <a:t>iteration</a:t>
            </a:r>
            <a:endParaRPr lang="en-GB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3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EFAF-94FE-C0F2-F749-A2B87E81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3600CA-F2C4-214A-7026-20998F6E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W3-agent_with_tools_BLANK.py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484DF85-E03E-39A0-10D5-D8C7235C4174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ABD137F-E1EB-9042-AAE1-58BE960D4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64" b="3819"/>
          <a:stretch/>
        </p:blipFill>
        <p:spPr>
          <a:xfrm>
            <a:off x="6096001" y="3383"/>
            <a:ext cx="6096000" cy="685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24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5DC0-5B80-F7E2-6516-F33EC060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F89D2-BE09-3010-BA35-5B451FA76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Model Context Protocol (MCP)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65136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What is MCP (Model Context Protocol)?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07988" y="900000"/>
            <a:ext cx="11376000" cy="400000"/>
          </a:xfrm>
          <a:prstGeom prst="rect">
            <a:avLst/>
          </a:prstGeom>
          <a:noFill/>
        </p:spPr>
        <p:txBody>
          <a:bodyPr wrap="square" lIns="91425" tIns="45700" rIns="91425" bIns="45700" anchor="t">
            <a:spAutoFit/>
          </a:bodyPr>
          <a:lstStyle/>
          <a:p>
            <a:pPr marL="0" lvl="0" algn="l">
              <a:buNone/>
            </a:pPr>
            <a:r>
              <a:rPr lang="en-US" sz="1800" dirty="0">
                <a:solidFill>
                  <a:schemeClr val="dk1"/>
                </a:solidFill>
                <a:latin typeface="Poppins"/>
              </a:rPr>
              <a:t>A standardized protocol that lets AI models discover and use tools from any MCP-compliant server</a:t>
            </a:r>
          </a:p>
        </p:txBody>
      </p:sp>
      <p:sp>
        <p:nvSpPr>
          <p:cNvPr id="10" name="LLM Box"/>
          <p:cNvSpPr/>
          <p:nvPr/>
        </p:nvSpPr>
        <p:spPr>
          <a:xfrm>
            <a:off x="600000" y="1600000"/>
            <a:ext cx="2400000" cy="180000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0D47A1"/>
            </a:solidFill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LLM Host</a:t>
            </a:r>
          </a:p>
          <a:p>
            <a:pPr algn="ctr"/>
            <a:r>
              <a:rPr lang="en-US" sz="1400" dirty="0">
                <a:solidFill>
                  <a:srgbClr val="BBDEFB"/>
                </a:solidFill>
                <a:latin typeface="Poppins"/>
              </a:rPr>
              <a:t>(Claude, ChatGPT,</a:t>
            </a:r>
          </a:p>
          <a:p>
            <a:pPr algn="ctr"/>
            <a:r>
              <a:rPr lang="en-US" sz="1400" dirty="0">
                <a:solidFill>
                  <a:srgbClr val="BBDEFB"/>
                </a:solidFill>
                <a:latin typeface="Poppins"/>
              </a:rPr>
              <a:t>your agent)</a:t>
            </a:r>
          </a:p>
        </p:txBody>
      </p:sp>
      <p:sp>
        <p:nvSpPr>
          <p:cNvPr id="11" name="MCP Client"/>
          <p:cNvSpPr/>
          <p:nvPr/>
        </p:nvSpPr>
        <p:spPr>
          <a:xfrm>
            <a:off x="750000" y="2900000"/>
            <a:ext cx="2100000" cy="400000"/>
          </a:xfrm>
          <a:prstGeom prst="roundRect">
            <a:avLst/>
          </a:prstGeom>
          <a:solidFill>
            <a:srgbClr val="42A5F5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Client</a:t>
            </a:r>
          </a:p>
        </p:txBody>
      </p:sp>
      <p:sp>
        <p:nvSpPr>
          <p:cNvPr id="20" name="Arrow1"/>
          <p:cNvSpPr/>
          <p:nvPr/>
        </p:nvSpPr>
        <p:spPr>
          <a:xfrm>
            <a:off x="3100000" y="2400000"/>
            <a:ext cx="1200000" cy="0"/>
          </a:xfrm>
          <a:prstGeom prst="rightArrow">
            <a:avLst/>
          </a:prstGeom>
          <a:solidFill>
            <a:srgbClr val="66BB6A"/>
          </a:solidFill>
        </p:spPr>
      </p:sp>
      <p:sp>
        <p:nvSpPr>
          <p:cNvPr id="12" name="Protocol"/>
          <p:cNvSpPr/>
          <p:nvPr/>
        </p:nvSpPr>
        <p:spPr>
          <a:xfrm>
            <a:off x="4400000" y="1800000"/>
            <a:ext cx="2000000" cy="1400000"/>
          </a:xfrm>
          <a:prstGeom prst="roundRect">
            <a:avLst/>
          </a:prstGeom>
          <a:solidFill>
            <a:srgbClr val="66BB6A"/>
          </a:solidFill>
          <a:ln w="25400">
            <a:solidFill>
              <a:srgbClr val="43A047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MCP Protocol</a:t>
            </a:r>
          </a:p>
          <a:p>
            <a:pPr algn="ctr"/>
            <a:r>
              <a:rPr lang="en-US" sz="1200" dirty="0">
                <a:solidFill>
                  <a:srgbClr val="E8F5E9"/>
                </a:solidFill>
                <a:latin typeface="Poppins"/>
              </a:rPr>
              <a:t>JSON-RPC</a:t>
            </a:r>
          </a:p>
          <a:p>
            <a:pPr algn="ctr"/>
            <a:r>
              <a:rPr lang="en-US" sz="1200" dirty="0">
                <a:solidFill>
                  <a:srgbClr val="E8F5E9"/>
                </a:solidFill>
                <a:latin typeface="Poppins"/>
              </a:rPr>
              <a:t>Standardized</a:t>
            </a:r>
          </a:p>
        </p:txBody>
      </p:sp>
      <p:sp>
        <p:nvSpPr>
          <p:cNvPr id="21" name="Arrow2"/>
          <p:cNvSpPr/>
          <p:nvPr/>
        </p:nvSpPr>
        <p:spPr>
          <a:xfrm>
            <a:off x="6500000" y="2400000"/>
            <a:ext cx="1200000" cy="0"/>
          </a:xfrm>
          <a:prstGeom prst="rightArrow">
            <a:avLst/>
          </a:prstGeom>
          <a:solidFill>
            <a:srgbClr val="66BB6A"/>
          </a:solidFill>
        </p:spPr>
      </p:sp>
      <p:sp>
        <p:nvSpPr>
          <p:cNvPr id="13" name="Server1"/>
          <p:cNvSpPr/>
          <p:nvPr/>
        </p:nvSpPr>
        <p:spPr>
          <a:xfrm>
            <a:off x="7800000" y="1400000"/>
            <a:ext cx="2000000" cy="700000"/>
          </a:xfrm>
          <a:prstGeom prst="roundRect">
            <a:avLst/>
          </a:prstGeom>
          <a:solidFill>
            <a:srgbClr val="FF7043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Files</a:t>
            </a:r>
          </a:p>
        </p:txBody>
      </p:sp>
      <p:sp>
        <p:nvSpPr>
          <p:cNvPr id="14" name="Server2"/>
          <p:cNvSpPr/>
          <p:nvPr/>
        </p:nvSpPr>
        <p:spPr>
          <a:xfrm>
            <a:off x="7800000" y="2200000"/>
            <a:ext cx="2000000" cy="700000"/>
          </a:xfrm>
          <a:prstGeom prst="roundRect">
            <a:avLst/>
          </a:prstGeom>
          <a:solidFill>
            <a:srgbClr val="AB47BC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Database</a:t>
            </a:r>
          </a:p>
        </p:txBody>
      </p:sp>
      <p:sp>
        <p:nvSpPr>
          <p:cNvPr id="15" name="Server3"/>
          <p:cNvSpPr/>
          <p:nvPr/>
        </p:nvSpPr>
        <p:spPr>
          <a:xfrm>
            <a:off x="7800000" y="3000000"/>
            <a:ext cx="2000000" cy="700000"/>
          </a:xfrm>
          <a:prstGeom prst="roundRect">
            <a:avLst/>
          </a:prstGeom>
          <a:solidFill>
            <a:srgbClr val="26A69A"/>
          </a:solidFill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Poppins"/>
              </a:rPr>
              <a:t>MCP Server: APIs</a:t>
            </a:r>
          </a:p>
        </p:txBody>
      </p:sp>
      <p:sp>
        <p:nvSpPr>
          <p:cNvPr id="16" name="Resources1"/>
          <p:cNvSpPr/>
          <p:nvPr/>
        </p:nvSpPr>
        <p:spPr>
          <a:xfrm>
            <a:off x="10000000" y="1450000"/>
            <a:ext cx="1600000" cy="600000"/>
          </a:xfrm>
          <a:prstGeom prst="rect">
            <a:avLst/>
          </a:prstGeom>
          <a:solidFill>
            <a:srgbClr val="FFCCBC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Local files, cloud storage</a:t>
            </a:r>
          </a:p>
        </p:txBody>
      </p:sp>
      <p:sp>
        <p:nvSpPr>
          <p:cNvPr id="17" name="Resources2"/>
          <p:cNvSpPr/>
          <p:nvPr/>
        </p:nvSpPr>
        <p:spPr>
          <a:xfrm>
            <a:off x="10000000" y="2250000"/>
            <a:ext cx="1600000" cy="600000"/>
          </a:xfrm>
          <a:prstGeom prst="rect">
            <a:avLst/>
          </a:prstGeom>
          <a:solidFill>
            <a:srgbClr val="E1BEE7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SQL, NoSQL, vector DBs</a:t>
            </a:r>
          </a:p>
        </p:txBody>
      </p:sp>
      <p:sp>
        <p:nvSpPr>
          <p:cNvPr id="18" name="Resources3"/>
          <p:cNvSpPr/>
          <p:nvPr/>
        </p:nvSpPr>
        <p:spPr>
          <a:xfrm>
            <a:off x="10000000" y="3050000"/>
            <a:ext cx="1600000" cy="600000"/>
          </a:xfrm>
          <a:prstGeom prst="rect">
            <a:avLst/>
          </a:prstGeom>
          <a:solidFill>
            <a:srgbClr val="B2DFDB"/>
          </a:solidFill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Poppins"/>
              </a:rPr>
              <a:t>Slack, GitHub, Jira</a:t>
            </a:r>
          </a:p>
        </p:txBody>
      </p:sp>
      <p:sp>
        <p:nvSpPr>
          <p:cNvPr id="30" name="KeyPoints"/>
          <p:cNvSpPr txBox="1"/>
          <p:nvPr/>
        </p:nvSpPr>
        <p:spPr>
          <a:xfrm>
            <a:off x="600000" y="3900000"/>
            <a:ext cx="110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algn="l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dk1"/>
                </a:solidFill>
                <a:latin typeface="Poppins"/>
              </a:rPr>
              <a:t>Key Concepts: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MCP Client:</a:t>
            </a:r>
            <a:r>
              <a:rPr lang="en-US" sz="1600" dirty="0">
                <a:latin typeface="Poppins"/>
              </a:rPr>
              <a:t> Built into the host app, discovers and calls MCP servers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MCP Server:</a:t>
            </a:r>
            <a:r>
              <a:rPr lang="en-US" sz="1600" dirty="0">
                <a:latin typeface="Poppins"/>
              </a:rPr>
              <a:t> Exposes tools, resources, and prompts via standardized interface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Protocol:</a:t>
            </a:r>
            <a:r>
              <a:rPr lang="en-US" sz="1600" dirty="0">
                <a:latin typeface="Poppins"/>
              </a:rPr>
              <a:t> JSON-RPC based, supports tool discovery, execution, and resource access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Plug-and-Play:</a:t>
            </a:r>
            <a:r>
              <a:rPr lang="en-US" sz="1600" dirty="0">
                <a:latin typeface="Poppins"/>
              </a:rPr>
              <a:t> Connect any MCP server to any MCP-compatible host without custom code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MCP vs Traditional Tools: When to Use Each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1000000"/>
            <a:ext cx="5400000" cy="50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Traditional Tools (Function Calling)</a:t>
            </a:r>
          </a:p>
        </p:txBody>
      </p:sp>
      <p:sp>
        <p:nvSpPr>
          <p:cNvPr id="11" name="RightHeader"/>
          <p:cNvSpPr/>
          <p:nvPr/>
        </p:nvSpPr>
        <p:spPr>
          <a:xfrm>
            <a:off x="6007988" y="1000000"/>
            <a:ext cx="5400000" cy="50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Poppins"/>
              </a:rPr>
              <a:t>MCP (Model Context Protocol)</a:t>
            </a:r>
          </a:p>
        </p:txBody>
      </p:sp>
      <p:sp>
        <p:nvSpPr>
          <p:cNvPr id="20" name="LeftContent"/>
          <p:cNvSpPr txBox="1"/>
          <p:nvPr/>
        </p:nvSpPr>
        <p:spPr>
          <a:xfrm>
            <a:off x="407988" y="1600000"/>
            <a:ext cx="5400000" cy="32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Tools defined per-application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Custom integration for each LLM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Tight coupling to your code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Full control over tool behavior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Best for: single-purpose agents, prototypes, custom pipelines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600000"/>
            <a:ext cx="5400000" cy="32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Tools are reusable across apps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Standardized interface for all LLMs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Loose coupling via protocol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Growing ecosystem of servers</a:t>
            </a:r>
          </a:p>
          <a:p>
            <a:pPr marL="285750" indent="-285750">
              <a:spcBef>
                <a:spcPts val="800"/>
              </a:spcBef>
              <a:buFont typeface="Arial"/>
              <a:buChar char="•"/>
            </a:pPr>
            <a:r>
              <a:rPr lang="en-US" sz="1600" dirty="0">
                <a:latin typeface="Poppins"/>
              </a:rPr>
              <a:t>Best for: multi-tool agents, enterprise apps, tool sharing</a:t>
            </a:r>
          </a:p>
        </p:txBody>
      </p:sp>
      <p:sp>
        <p:nvSpPr>
          <p:cNvPr id="30" name="Recommendation"/>
          <p:cNvSpPr/>
          <p:nvPr/>
        </p:nvSpPr>
        <p:spPr>
          <a:xfrm>
            <a:off x="407988" y="5000000"/>
            <a:ext cx="11000000" cy="140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txBody>
          <a:bodyPr wrap="square" lIns="150000" tIns="100000" rIns="150000" bIns="10000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E65100"/>
                </a:solidFill>
                <a:latin typeface="Poppins"/>
              </a:rPr>
              <a:t>When to choose MCP: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latin typeface="Poppins"/>
              </a:rPr>
              <a:t>Use MCP when you need to </a:t>
            </a:r>
            <a:r>
              <a:rPr lang="en-US" sz="1600" b="1" dirty="0">
                <a:latin typeface="Poppins"/>
              </a:rPr>
              <a:t>share tools</a:t>
            </a:r>
            <a:r>
              <a:rPr lang="en-US" sz="1600" dirty="0">
                <a:latin typeface="Poppins"/>
              </a:rPr>
              <a:t> across multiple agents, want to use </a:t>
            </a:r>
            <a:r>
              <a:rPr lang="en-US" sz="1600" b="1" dirty="0">
                <a:latin typeface="Poppins"/>
              </a:rPr>
              <a:t>community-built servers</a:t>
            </a:r>
            <a:r>
              <a:rPr lang="en-US" sz="1600" dirty="0">
                <a:latin typeface="Poppins"/>
              </a:rPr>
              <a:t>, or building </a:t>
            </a:r>
            <a:r>
              <a:rPr lang="en-US" sz="1600" b="1" dirty="0">
                <a:latin typeface="Poppins"/>
              </a:rPr>
              <a:t>production systems</a:t>
            </a:r>
            <a:r>
              <a:rPr lang="en-US" sz="1600" dirty="0">
                <a:latin typeface="Poppins"/>
              </a:rPr>
              <a:t> that may switch LLM providers. Traditional tools work best for quick prototypes and tightly-integrated single-agent apps.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What MCP Really Is (More Than Shareable Tools)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1000000"/>
            <a:ext cx="5400000" cy="45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MCP Provides</a:t>
            </a:r>
          </a:p>
        </p:txBody>
      </p:sp>
      <p:sp>
        <p:nvSpPr>
          <p:cNvPr id="11" name="LeftContent"/>
          <p:cNvSpPr txBox="1"/>
          <p:nvPr/>
        </p:nvSpPr>
        <p:spPr>
          <a:xfrm>
            <a:off x="407988" y="1500000"/>
            <a:ext cx="5400000" cy="22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Tools</a:t>
            </a:r>
            <a:r>
              <a:rPr lang="en-US" sz="1600" dirty="0">
                <a:latin typeface="Poppins"/>
              </a:rPr>
              <a:t> - Shareable, reusable actions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Resources</a:t>
            </a:r>
            <a:r>
              <a:rPr lang="en-US" sz="1600" dirty="0">
                <a:latin typeface="Poppins"/>
              </a:rPr>
              <a:t> - Data/context (files, DB records)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Prompts</a:t>
            </a:r>
            <a:r>
              <a:rPr lang="en-US" sz="1600" dirty="0">
                <a:latin typeface="Poppins"/>
              </a:rPr>
              <a:t> - Reusable prompt templates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en-US" sz="1600" b="1" dirty="0">
                <a:latin typeface="Poppins"/>
              </a:rPr>
              <a:t>Dynamic Discovery</a:t>
            </a:r>
            <a:r>
              <a:rPr lang="en-US" sz="1600" dirty="0">
                <a:latin typeface="Poppins"/>
              </a:rPr>
              <a:t> - LLM asks “what can you do?” at runtime</a:t>
            </a:r>
          </a:p>
        </p:txBody>
      </p:sp>
      <p:sp>
        <p:nvSpPr>
          <p:cNvPr id="20" name="RightHeader"/>
          <p:cNvSpPr/>
          <p:nvPr/>
        </p:nvSpPr>
        <p:spPr>
          <a:xfrm>
            <a:off x="6007988" y="1000000"/>
            <a:ext cx="5400000" cy="45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Can Tools Do Everything MCP Does?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500000"/>
            <a:ext cx="5400000" cy="22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43A047"/>
                </a:solidFill>
                <a:latin typeface="Poppins"/>
              </a:rPr>
              <a:t>Technically yes</a:t>
            </a:r>
            <a:r>
              <a:rPr lang="en-US" sz="1600" dirty="0">
                <a:latin typeface="Poppins"/>
              </a:rPr>
              <a:t> - but you’d be rebuilding: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Your own communication protocol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Your own discovery mechanism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Custom integration per LLM provider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What community has already built</a:t>
            </a:r>
          </a:p>
        </p:txBody>
      </p:sp>
      <p:sp>
        <p:nvSpPr>
          <p:cNvPr id="30" name="KeyInsight"/>
          <p:cNvSpPr/>
          <p:nvPr/>
        </p:nvSpPr>
        <p:spPr>
          <a:xfrm>
            <a:off x="407988" y="3900000"/>
            <a:ext cx="11000000" cy="70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txBody>
          <a:bodyPr wrap="square" lIns="150000" tIns="80000" rIns="150000" bIns="80000" anchor="ctr"/>
          <a:lstStyle/>
          <a:p>
            <a:pPr algn="ctr"/>
            <a:r>
              <a:rPr lang="en-US" sz="1800" b="1" dirty="0">
                <a:solidFill>
                  <a:srgbClr val="E65100"/>
                </a:solidFill>
                <a:latin typeface="Poppins"/>
              </a:rPr>
              <a:t>Key Insight:</a:t>
            </a:r>
            <a:r>
              <a:rPr lang="en-US" sz="1800" dirty="0">
                <a:latin typeface="Poppins"/>
              </a:rPr>
              <a:t> MCP solves the N×M problem — without it, N agents each need custom code for M tools</a:t>
            </a:r>
          </a:p>
        </p:txBody>
      </p:sp>
      <p:sp>
        <p:nvSpPr>
          <p:cNvPr id="40" name="BottomHeader"/>
          <p:cNvSpPr/>
          <p:nvPr/>
        </p:nvSpPr>
        <p:spPr>
          <a:xfrm>
            <a:off x="407988" y="4800000"/>
            <a:ext cx="11000000" cy="450000"/>
          </a:xfrm>
          <a:prstGeom prst="roundRect">
            <a:avLst/>
          </a:prstGeom>
          <a:solidFill>
            <a:srgbClr val="7E57C2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Do Traditional Tools Still Make Sense?</a:t>
            </a:r>
          </a:p>
        </p:txBody>
      </p:sp>
      <p:sp>
        <p:nvSpPr>
          <p:cNvPr id="41" name="BottomContent"/>
          <p:cNvSpPr txBox="1"/>
          <p:nvPr/>
        </p:nvSpPr>
        <p:spPr>
          <a:xfrm>
            <a:off x="407988" y="5300000"/>
            <a:ext cx="11000000" cy="1200000"/>
          </a:xfrm>
          <a:prstGeom prst="rect">
            <a:avLst/>
          </a:prstGeom>
          <a:solidFill>
            <a:srgbClr val="EDE7F6"/>
          </a:solidFill>
        </p:spPr>
        <p:txBody>
          <a:bodyPr wrap="square" lIns="150000" tIns="80000" rIns="150000" bIns="80000" anchor="ctr"/>
          <a:lstStyle/>
          <a:p>
            <a:pPr algn="ctr"/>
            <a:r>
              <a:rPr lang="en-US" sz="1800" b="1" dirty="0">
                <a:solidFill>
                  <a:srgbClr val="43A047"/>
                </a:solidFill>
                <a:latin typeface="Poppins"/>
              </a:rPr>
              <a:t>Absolutely!</a:t>
            </a:r>
            <a:r>
              <a:rPr lang="en-US" sz="1800" dirty="0">
                <a:latin typeface="Poppins"/>
              </a:rPr>
              <a:t> They’re </a:t>
            </a:r>
            <a:r>
              <a:rPr lang="en-US" sz="1800" b="1" dirty="0">
                <a:latin typeface="Poppins"/>
              </a:rPr>
              <a:t>complementary</a:t>
            </a:r>
            <a:r>
              <a:rPr lang="en-US" sz="1800" dirty="0">
                <a:latin typeface="Poppins"/>
              </a:rPr>
              <a:t>, not competing. Use tools for simple, tightly-integrated cases. Use MCP when you need interoperability, reusability, or want to leverage community servers.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7988" y="365125"/>
            <a:ext cx="11376000" cy="523180"/>
          </a:xfrm>
          <a:prstGeom prst="rect">
            <a:avLst/>
          </a:prstGeom>
          <a:noFill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chemeClr val="dk1"/>
                </a:solidFill>
                <a:latin typeface="Poppins"/>
              </a:rPr>
              <a:t>Decision Guide: When to Use Tools vs MCP</a:t>
            </a:r>
          </a:p>
        </p:txBody>
      </p:sp>
      <p:sp>
        <p:nvSpPr>
          <p:cNvPr id="10" name="LeftHeader"/>
          <p:cNvSpPr/>
          <p:nvPr/>
        </p:nvSpPr>
        <p:spPr>
          <a:xfrm>
            <a:off x="407988" y="950000"/>
            <a:ext cx="5400000" cy="450000"/>
          </a:xfrm>
          <a:prstGeom prst="roundRect">
            <a:avLst/>
          </a:prstGeom>
          <a:solidFill>
            <a:srgbClr val="1A237E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✔ Use Traditional Tools When...</a:t>
            </a:r>
          </a:p>
        </p:txBody>
      </p:sp>
      <p:sp>
        <p:nvSpPr>
          <p:cNvPr id="11" name="LeftContent"/>
          <p:cNvSpPr txBox="1"/>
          <p:nvPr/>
        </p:nvSpPr>
        <p:spPr>
          <a:xfrm>
            <a:off x="407988" y="1450000"/>
            <a:ext cx="5400000" cy="2300000"/>
          </a:xfrm>
          <a:prstGeom prst="rect">
            <a:avLst/>
          </a:prstGeom>
          <a:solidFill>
            <a:srgbClr val="E8EAF6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Building quick prototypes or experiments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Single-agent apps with 1-5 simple tools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Tools tightly coupled to your business logic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Internal tools you’ll never share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Committed to one LLM provider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Learning/educational projects</a:t>
            </a:r>
          </a:p>
        </p:txBody>
      </p:sp>
      <p:sp>
        <p:nvSpPr>
          <p:cNvPr id="20" name="RightHeader"/>
          <p:cNvSpPr/>
          <p:nvPr/>
        </p:nvSpPr>
        <p:spPr>
          <a:xfrm>
            <a:off x="6007988" y="950000"/>
            <a:ext cx="5400000" cy="450000"/>
          </a:xfrm>
          <a:prstGeom prst="roundRect">
            <a:avLst/>
          </a:prstGeom>
          <a:solidFill>
            <a:srgbClr val="66BB6A"/>
          </a:solidFill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Poppins"/>
              </a:rPr>
              <a:t>✔ Use MCP When...</a:t>
            </a:r>
          </a:p>
        </p:txBody>
      </p:sp>
      <p:sp>
        <p:nvSpPr>
          <p:cNvPr id="21" name="RightContent"/>
          <p:cNvSpPr txBox="1"/>
          <p:nvPr/>
        </p:nvSpPr>
        <p:spPr>
          <a:xfrm>
            <a:off x="6007988" y="1450000"/>
            <a:ext cx="5400000" cy="2300000"/>
          </a:xfrm>
          <a:prstGeom prst="rect">
            <a:avLst/>
          </a:prstGeom>
          <a:solidFill>
            <a:srgbClr val="E8F5E9"/>
          </a:solidFill>
        </p:spPr>
        <p:txBody>
          <a:bodyPr wrap="square" lIns="150000" tIns="100000" rIns="150000" bIns="100000">
            <a:spAutoFit/>
          </a:bodyPr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Sharing tools across multiple agents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Using community-built servers (Slack, GitHub, etc.)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Building production systems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May switch LLM providers in future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Need many integrations (5+ external services)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en-US" sz="1500" dirty="0">
                <a:latin typeface="Poppins"/>
              </a:rPr>
              <a:t>Want to contribute tools to the ecosystem</a:t>
            </a:r>
          </a:p>
        </p:txBody>
      </p:sp>
      <p:sp>
        <p:nvSpPr>
          <p:cNvPr id="30" name="TableHeader"/>
          <p:cNvSpPr/>
          <p:nvPr/>
        </p:nvSpPr>
        <p:spPr>
          <a:xfrm>
            <a:off x="407988" y="3900000"/>
            <a:ext cx="11000000" cy="400000"/>
          </a:xfrm>
          <a:prstGeom prst="rect">
            <a:avLst/>
          </a:prstGeom>
          <a:solidFill>
            <a:srgbClr val="455A64"/>
          </a:solidFill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Poppins"/>
              </a:rPr>
              <a:t>Practical Examples</a:t>
            </a:r>
          </a:p>
        </p:txBody>
      </p:sp>
      <p:sp>
        <p:nvSpPr>
          <p:cNvPr id="31" name="Row1"/>
          <p:cNvSpPr txBox="1"/>
          <p:nvPr/>
        </p:nvSpPr>
        <p:spPr>
          <a:xfrm>
            <a:off x="407988" y="43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need my agent to call my own Python function”</a:t>
            </a:r>
          </a:p>
        </p:txBody>
      </p:sp>
      <p:sp>
        <p:nvSpPr>
          <p:cNvPr id="32" name="Row1Answer"/>
          <p:cNvSpPr/>
          <p:nvPr/>
        </p:nvSpPr>
        <p:spPr>
          <a:xfrm>
            <a:off x="6457988" y="43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  <p:sp>
        <p:nvSpPr>
          <p:cNvPr id="33" name="Row2"/>
          <p:cNvSpPr txBox="1"/>
          <p:nvPr/>
        </p:nvSpPr>
        <p:spPr>
          <a:xfrm>
            <a:off x="407988" y="4750000"/>
            <a:ext cx="6000000" cy="350000"/>
          </a:xfrm>
          <a:prstGeom prst="rect">
            <a:avLst/>
          </a:prstGeom>
          <a:solidFill>
            <a:srgbClr val="FAFAFA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want to connect to Slack, GitHub, and a database”</a:t>
            </a:r>
          </a:p>
        </p:txBody>
      </p:sp>
      <p:sp>
        <p:nvSpPr>
          <p:cNvPr id="34" name="Row2Answer"/>
          <p:cNvSpPr/>
          <p:nvPr/>
        </p:nvSpPr>
        <p:spPr>
          <a:xfrm>
            <a:off x="6457988" y="4750000"/>
            <a:ext cx="4950000" cy="350000"/>
          </a:xfrm>
          <a:prstGeom prst="rect">
            <a:avLst/>
          </a:prstGeom>
          <a:solidFill>
            <a:srgbClr val="E8F5E9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2E7D32"/>
                </a:solidFill>
                <a:latin typeface="Poppins"/>
              </a:rPr>
              <a:t>→ MCP (use existing servers)</a:t>
            </a:r>
          </a:p>
        </p:txBody>
      </p:sp>
      <p:sp>
        <p:nvSpPr>
          <p:cNvPr id="35" name="Row3"/>
          <p:cNvSpPr txBox="1"/>
          <p:nvPr/>
        </p:nvSpPr>
        <p:spPr>
          <a:xfrm>
            <a:off x="407988" y="51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“Building a quick POC this afternoon”</a:t>
            </a:r>
          </a:p>
        </p:txBody>
      </p:sp>
      <p:sp>
        <p:nvSpPr>
          <p:cNvPr id="36" name="Row3Answer"/>
          <p:cNvSpPr/>
          <p:nvPr/>
        </p:nvSpPr>
        <p:spPr>
          <a:xfrm>
            <a:off x="6457988" y="51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  <p:sp>
        <p:nvSpPr>
          <p:cNvPr id="37" name="Row4"/>
          <p:cNvSpPr txBox="1"/>
          <p:nvPr/>
        </p:nvSpPr>
        <p:spPr>
          <a:xfrm>
            <a:off x="407988" y="5550000"/>
            <a:ext cx="6000000" cy="350000"/>
          </a:xfrm>
          <a:prstGeom prst="rect">
            <a:avLst/>
          </a:prstGeom>
          <a:solidFill>
            <a:srgbClr val="FAFAFA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“Production system, might switch from Claude to GPT”</a:t>
            </a:r>
          </a:p>
        </p:txBody>
      </p:sp>
      <p:sp>
        <p:nvSpPr>
          <p:cNvPr id="38" name="Row4Answer"/>
          <p:cNvSpPr/>
          <p:nvPr/>
        </p:nvSpPr>
        <p:spPr>
          <a:xfrm>
            <a:off x="6457988" y="5550000"/>
            <a:ext cx="4950000" cy="350000"/>
          </a:xfrm>
          <a:prstGeom prst="rect">
            <a:avLst/>
          </a:prstGeom>
          <a:solidFill>
            <a:srgbClr val="E8F5E9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2E7D32"/>
                </a:solidFill>
                <a:latin typeface="Poppins"/>
              </a:rPr>
              <a:t>→ MCP</a:t>
            </a:r>
          </a:p>
        </p:txBody>
      </p:sp>
      <p:sp>
        <p:nvSpPr>
          <p:cNvPr id="39" name="Row5"/>
          <p:cNvSpPr txBox="1"/>
          <p:nvPr/>
        </p:nvSpPr>
        <p:spPr>
          <a:xfrm>
            <a:off x="407988" y="5950000"/>
            <a:ext cx="6000000" cy="350000"/>
          </a:xfrm>
          <a:prstGeom prst="rect">
            <a:avLst/>
          </a:prstGeom>
          <a:solidFill>
            <a:srgbClr val="ECEFF1"/>
          </a:solidFill>
        </p:spPr>
        <p:txBody>
          <a:bodyPr lIns="100000" anchor="ctr"/>
          <a:lstStyle/>
          <a:p>
            <a:r>
              <a:rPr lang="en-US" sz="1400" dirty="0">
                <a:latin typeface="Poppins"/>
              </a:rPr>
              <a:t>“I want full control over execution logic”</a:t>
            </a:r>
          </a:p>
        </p:txBody>
      </p:sp>
      <p:sp>
        <p:nvSpPr>
          <p:cNvPr id="40" name="Row5Answer"/>
          <p:cNvSpPr/>
          <p:nvPr/>
        </p:nvSpPr>
        <p:spPr>
          <a:xfrm>
            <a:off x="6457988" y="5950000"/>
            <a:ext cx="4950000" cy="350000"/>
          </a:xfrm>
          <a:prstGeom prst="rect">
            <a:avLst/>
          </a:prstGeom>
          <a:solidFill>
            <a:srgbClr val="E8EAF6"/>
          </a:solidFill>
        </p:spPr>
        <p:txBody>
          <a:bodyPr lIns="100000" anchor="ctr"/>
          <a:lstStyle/>
          <a:p>
            <a:r>
              <a:rPr lang="en-US" sz="1400" b="1" dirty="0">
                <a:solidFill>
                  <a:srgbClr val="1A237E"/>
                </a:solidFill>
                <a:latin typeface="Poppins"/>
              </a:rPr>
              <a:t>→ Tools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8D59-09C5-8C5D-9B68-E0CC94D7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C5EE6E12-00FE-AAFB-2301-D188EDBE98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08CC23E4-7B6F-0F86-058D-A257E68C8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Chat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57792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9C20-B5E0-3B90-0086-5C94AAA0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F66C26B8-D5FB-E3A7-C230-05FF0D6E9A43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chatbots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7ABB031-A2C4-68AB-93C4-BF900604342D}"/>
              </a:ext>
            </a:extLst>
          </p:cNvPr>
          <p:cNvSpPr txBox="1"/>
          <p:nvPr/>
        </p:nvSpPr>
        <p:spPr>
          <a:xfrm>
            <a:off x="407988" y="1557850"/>
            <a:ext cx="5277305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 Concepts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Definition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AI systems designed for human-like conversation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Evolution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Rule-based → ML-powered → LLM-powered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Capabilities</a:t>
            </a:r>
            <a:r>
              <a:rPr lang="en-GB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: Text completion, knowledge access, tool use</a:t>
            </a:r>
            <a:endParaRPr lang="pl-PL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Most popular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topic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of 2024-&gt; real-life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showed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that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Chat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bots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harder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than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seem</a:t>
            </a:r>
            <a:br>
              <a:rPr lang="pl-PL" sz="20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Chatbots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combine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Tools and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managing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short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long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conversation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endParaRPr lang="en-GB" sz="20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AD34833-0AC2-594F-A7A6-3D3A29B78925}"/>
              </a:ext>
            </a:extLst>
          </p:cNvPr>
          <p:cNvSpPr txBox="1"/>
          <p:nvPr/>
        </p:nvSpPr>
        <p:spPr>
          <a:xfrm>
            <a:off x="6506708" y="1557850"/>
            <a:ext cx="5075692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Real-World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Customer service automation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Virtual assistants (Siri, Alexa)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Technical support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Educational tutoring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Healthcare triage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932B3B4-703E-662D-CA14-5B121D55762D}"/>
              </a:ext>
            </a:extLst>
          </p:cNvPr>
          <p:cNvSpPr txBox="1"/>
          <p:nvPr/>
        </p:nvSpPr>
        <p:spPr>
          <a:xfrm>
            <a:off x="6506708" y="3857986"/>
            <a:ext cx="4789942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Limitations</a:t>
            </a:r>
            <a:r>
              <a:rPr lang="pl-PL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b="1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Risks</a:t>
            </a:r>
            <a:endParaRPr lang="en-GB" b="1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/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Chats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pretty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much as open as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possible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this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 lot of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risk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including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Toxic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behaviour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Injection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Customers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trying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benefits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from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ChatBot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errors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-&gt;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unlimited</a:t>
            </a:r>
            <a:r>
              <a:rPr lang="pl-PL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b="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tries</a:t>
            </a:r>
            <a:endParaRPr lang="pl-PL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63012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F3D5F-C372-45FA-0429-7432D825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19EA9C19-F57D-E931-9AA4-47A177A72174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first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bot with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DC9DA7B-1973-562A-3647-90C5E93B8743}"/>
              </a:ext>
            </a:extLst>
          </p:cNvPr>
          <p:cNvSpPr txBox="1"/>
          <p:nvPr/>
        </p:nvSpPr>
        <p:spPr>
          <a:xfrm>
            <a:off x="407988" y="1354496"/>
            <a:ext cx="5688012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1: Choose a Foundation Model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Select an appropriate Large Language Model (like GPT-4o in this example)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Consider capabilities, cost, and performance requirements for your use case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2: Design the Agent's Personality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 a system prompt that defines how the agent should behave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Set boundaries and establish the agent's role and tone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Enable the agent to maintain consistent personality across interactions</a:t>
            </a:r>
            <a:endParaRPr lang="pl-PL" sz="1400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3: Implement Memory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Store conversation history to provide context continuity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Allow the agent to recall previous interactions and user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Memory can be as simple as saving messages to a file or database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B1C1D44-153B-9951-0C34-2EF7C16E5099}"/>
              </a:ext>
            </a:extLst>
          </p:cNvPr>
          <p:cNvSpPr txBox="1"/>
          <p:nvPr/>
        </p:nvSpPr>
        <p:spPr>
          <a:xfrm>
            <a:off x="6095988" y="1324692"/>
            <a:ext cx="60960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4: Build the Communication Loop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Create a function to handle user input and generate responses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Process the conversation context before sending to the LLM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Return responses in a structured format that maintains the conversation flow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b="1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Step 5: Enhance with Additional Capabilities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Add tools for specific tasks (like web search, calculations, etc.)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Implement error handling and fallback responses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Consider privacy features and user identification mechanisms</a:t>
            </a:r>
          </a:p>
        </p:txBody>
      </p:sp>
    </p:spTree>
    <p:extLst>
      <p:ext uri="{BB962C8B-B14F-4D97-AF65-F5344CB8AC3E}">
        <p14:creationId xmlns:p14="http://schemas.microsoft.com/office/powerpoint/2010/main" val="1820403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A707-2C04-775D-D700-60B63CEC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F2B008-89A0-75A0-9354-D2D92AEC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Start with W3_chat_with_memory_BLANK.py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BC6471C-A95A-B58A-6F51-5F068A74B115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6371962B-D473-47D5-587D-E536AC4FFD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38"/>
          <a:stretch/>
        </p:blipFill>
        <p:spPr>
          <a:xfrm>
            <a:off x="6116866" y="-3729"/>
            <a:ext cx="6075134" cy="686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50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6B72-AE9F-0E8A-6E24-786BD683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5;g2ae502b7976_1_101">
            <a:extLst>
              <a:ext uri="{FF2B5EF4-FFF2-40B4-BE49-F238E27FC236}">
                <a16:creationId xmlns:a16="http://schemas.microsoft.com/office/drawing/2014/main" id="{D724AC5A-6160-AFD8-453E-5AB2D170F3C4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UI for Demos in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minutes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FE0856E-BA00-F7E3-3EB1-4E8C0127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558" y="713357"/>
            <a:ext cx="4788075" cy="5740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B917F74-3F61-903C-2650-3BD9E62465ED}"/>
              </a:ext>
            </a:extLst>
          </p:cNvPr>
          <p:cNvSpPr txBox="1"/>
          <p:nvPr/>
        </p:nvSpPr>
        <p:spPr>
          <a:xfrm>
            <a:off x="509588" y="1888050"/>
            <a:ext cx="5277305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One of the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key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reasons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accelerated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AI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adoption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by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reducing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barriers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entry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smart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predictions</a:t>
            </a:r>
            <a:endParaRPr lang="pl-PL" sz="200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Once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we start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interacting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through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API, we go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back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harder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read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by non-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tech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people</a:t>
            </a: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Fortunatelly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allows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i="0" dirty="0" err="1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us</a:t>
            </a:r>
            <a:r>
              <a:rPr lang="pl-PL" sz="2000" i="0" dirty="0"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quickly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create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mockup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Chat/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App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interface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easier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testing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and demo</a:t>
            </a:r>
          </a:p>
          <a:p>
            <a:pPr marL="342900" indent="-342900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SoTa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amazing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at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building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these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aps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often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in single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en-GB" sz="2000" i="0" dirty="0"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642154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C915-D1EF-A264-FF0D-7EED11FA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4FE8448C-F473-B39A-61C0-BE257BEC36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6DC23F-CA87-BDEF-29E1-473651168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5419" y="2235200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End of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course</a:t>
            </a:r>
            <a:r>
              <a:rPr lang="pl-PL" sz="6000" b="1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assignment</a:t>
            </a:r>
            <a:endParaRPr lang="pl-PL" sz="6000" b="1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618825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4FD1DFB4-A92C-7991-C3F6-04B71196C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E730030D-A5F9-301C-5A00-933137F48260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definition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73020BB7-C261-50CB-D8E2-257301132384}"/>
              </a:ext>
            </a:extLst>
          </p:cNvPr>
          <p:cNvSpPr/>
          <p:nvPr/>
        </p:nvSpPr>
        <p:spPr>
          <a:xfrm>
            <a:off x="794508" y="1314362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Travel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agency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chatbot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338CFBE8-943E-2A92-DDB2-7FACADEFAA4C}"/>
              </a:ext>
            </a:extLst>
          </p:cNvPr>
          <p:cNvSpPr/>
          <p:nvPr/>
        </p:nvSpPr>
        <p:spPr>
          <a:xfrm>
            <a:off x="7003093" y="1240077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Satisfaction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bot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8DED7D9-1A7D-4BEC-B007-902344CFC24A}"/>
              </a:ext>
            </a:extLst>
          </p:cNvPr>
          <p:cNvSpPr txBox="1"/>
          <p:nvPr/>
        </p:nvSpPr>
        <p:spPr>
          <a:xfrm>
            <a:off x="838350" y="2229633"/>
            <a:ext cx="43778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RAG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FAQs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Check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availability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from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Basic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memory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Guardrails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against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toxic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behaviour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E557F6A-285B-17FA-1312-19062D118C0F}"/>
              </a:ext>
            </a:extLst>
          </p:cNvPr>
          <p:cNvSpPr txBox="1"/>
          <p:nvPr/>
        </p:nvSpPr>
        <p:spPr>
          <a:xfrm>
            <a:off x="6235876" y="2228671"/>
            <a:ext cx="5956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mentioned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locations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classification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customizable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Decide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whether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assign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discount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recommend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21381F2-4D4D-AA18-4304-6A43815B0CDE}"/>
              </a:ext>
            </a:extLst>
          </p:cNvPr>
          <p:cNvSpPr txBox="1"/>
          <p:nvPr/>
        </p:nvSpPr>
        <p:spPr>
          <a:xfrm>
            <a:off x="838350" y="4417594"/>
            <a:ext cx="4377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500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FAQs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6F26092-B9C8-186C-1099-E230E57F6A4B}"/>
              </a:ext>
            </a:extLst>
          </p:cNvPr>
          <p:cNvSpPr txBox="1"/>
          <p:nvPr/>
        </p:nvSpPr>
        <p:spPr>
          <a:xfrm>
            <a:off x="6382833" y="4417594"/>
            <a:ext cx="43778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1000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reviews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for hotels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true sentiment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labels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(data\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final_assignment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\customer_surveys_hotels_1k.json)*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5FDC1C4-DDB0-A7E1-70BE-CDE3DF444219}"/>
              </a:ext>
            </a:extLst>
          </p:cNvPr>
          <p:cNvSpPr txBox="1"/>
          <p:nvPr/>
        </p:nvSpPr>
        <p:spPr>
          <a:xfrm>
            <a:off x="242370" y="6389783"/>
            <a:ext cx="1248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 Subsampled and balanced data from https://huggingface.co/datasets/argilla/tripadvisor-hotel-reviews</a:t>
            </a:r>
          </a:p>
        </p:txBody>
      </p:sp>
    </p:spTree>
    <p:extLst>
      <p:ext uri="{BB962C8B-B14F-4D97-AF65-F5344CB8AC3E}">
        <p14:creationId xmlns:p14="http://schemas.microsoft.com/office/powerpoint/2010/main" val="1155844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5E13A571-5373-5EE2-EA85-02B8695B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C5D520F8-E619-D322-79D8-4E95B9102407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ravel agency chat bot hints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97ABC4C-EC8E-E378-D1C3-5E0C76A928D5}"/>
              </a:ext>
            </a:extLst>
          </p:cNvPr>
          <p:cNvSpPr txBox="1"/>
          <p:nvPr/>
        </p:nvSpPr>
        <p:spPr>
          <a:xfrm>
            <a:off x="838350" y="2229633"/>
            <a:ext cx="43778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Answer questions about company travel policies passed on the FAQ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Working memory -&gt; being able to use contents from previous messages in answers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app for easier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Ability to fetch trips details from a file based on its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Guardrails against toxic </a:t>
            </a:r>
            <a:r>
              <a:rPr lang="en-GB" dirty="0" err="1">
                <a:latin typeface="Poppins" panose="00000500000000000000" pitchFamily="2" charset="-18"/>
                <a:cs typeface="Poppins" panose="00000500000000000000" pitchFamily="2" charset="-18"/>
              </a:rPr>
              <a:t>behavious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 and jailbreaking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0EC5938-3CD1-E155-AD1C-DC7AEEA32C6E}"/>
              </a:ext>
            </a:extLst>
          </p:cNvPr>
          <p:cNvSpPr/>
          <p:nvPr/>
        </p:nvSpPr>
        <p:spPr>
          <a:xfrm>
            <a:off x="79450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Expected features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3477E31-5333-13B2-366B-6F936607CF15}"/>
              </a:ext>
            </a:extLst>
          </p:cNvPr>
          <p:cNvSpPr/>
          <p:nvPr/>
        </p:nvSpPr>
        <p:spPr>
          <a:xfrm>
            <a:off x="690463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Most important steps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940432-C691-1AA2-D9FD-9C6351D6A489}"/>
              </a:ext>
            </a:extLst>
          </p:cNvPr>
          <p:cNvSpPr txBox="1"/>
          <p:nvPr/>
        </p:nvSpPr>
        <p:spPr>
          <a:xfrm>
            <a:off x="6904638" y="2229633"/>
            <a:ext cx="43778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Vectorize FAQs based on `W2-llm-calling-and-vector-search`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Prepare RAG tool based on previous notebook and `W3-agent_with_tools`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Implement memory  stored in </a:t>
            </a:r>
            <a:r>
              <a:rPr lang="en-GB" sz="1400" dirty="0" err="1">
                <a:latin typeface="Poppins" panose="00000500000000000000" pitchFamily="2" charset="-18"/>
                <a:cs typeface="Poppins" panose="00000500000000000000" pitchFamily="2" charset="-18"/>
              </a:rPr>
              <a:t>json</a:t>
            </a: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 file based on `W3_chat_with_memory`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Retool </a:t>
            </a:r>
            <a:r>
              <a:rPr lang="en-GB" sz="1400" dirty="0" err="1">
                <a:latin typeface="Poppins" panose="00000500000000000000" pitchFamily="2" charset="-18"/>
                <a:cs typeface="Poppins" panose="00000500000000000000" pitchFamily="2" charset="-18"/>
              </a:rPr>
              <a:t>streamlit</a:t>
            </a: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 app from `W3-chat_app` to show this 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Connect tool from and `W3-agent_with_tools` for interactions with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Read about jailbreaking and toxicity filters, try preventing them with system prompt instructions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14982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DA8AC66-2E9D-3E82-8532-CD160BC3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6B79A08A-A1CA-E571-5089-2D10255C651F}"/>
              </a:ext>
            </a:extLst>
          </p:cNvPr>
          <p:cNvSpPr txBox="1"/>
          <p:nvPr/>
        </p:nvSpPr>
        <p:spPr>
          <a:xfrm>
            <a:off x="407988" y="565805"/>
            <a:ext cx="1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Satisfaction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bot</a:t>
            </a: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hints</a:t>
            </a: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845F384-FE5F-6A0D-74B1-F089F97EF916}"/>
              </a:ext>
            </a:extLst>
          </p:cNvPr>
          <p:cNvSpPr txBox="1"/>
          <p:nvPr/>
        </p:nvSpPr>
        <p:spPr>
          <a:xfrm>
            <a:off x="838350" y="2099005"/>
            <a:ext cx="43778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Fetch Customer Satisfaction records from folder and classify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Send a customized discount for negative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Recommend 3 best trips for positive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Save output to a csv file 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Use NER to extract all mentioned locations and save them to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Compare classification metrics vs ground truth data</a:t>
            </a: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896FDF71-9D61-C9DA-F0F1-FD479B26E7C3}"/>
              </a:ext>
            </a:extLst>
          </p:cNvPr>
          <p:cNvSpPr/>
          <p:nvPr/>
        </p:nvSpPr>
        <p:spPr>
          <a:xfrm>
            <a:off x="79450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Expected features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3033F5A4-D75D-1E9B-7A36-61256BE18050}"/>
              </a:ext>
            </a:extLst>
          </p:cNvPr>
          <p:cNvSpPr/>
          <p:nvPr/>
        </p:nvSpPr>
        <p:spPr>
          <a:xfrm>
            <a:off x="6904638" y="1314843"/>
            <a:ext cx="4421688" cy="6889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Most important steps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389697A-0D75-07C5-48E8-F376084D8D5D}"/>
              </a:ext>
            </a:extLst>
          </p:cNvPr>
          <p:cNvSpPr txBox="1"/>
          <p:nvPr/>
        </p:nvSpPr>
        <p:spPr>
          <a:xfrm>
            <a:off x="6904638" y="2229633"/>
            <a:ext cx="437784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Retool chain from `W3-llm-flows-and-monitoring` to work with new data and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Find a solution to find best trips related to NER -&gt; can be purely RAG, possibly expanded by filtering by metadata e.g. location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Leverage model from `W2-NER-Intro` to implement location processing into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Poppins" panose="00000500000000000000" pitchFamily="2" charset="-18"/>
                <a:cs typeface="Poppins" panose="00000500000000000000" pitchFamily="2" charset="-18"/>
              </a:rPr>
              <a:t>Calculate accuracy, recall and precision of sentiment analysis and visualize results</a:t>
            </a:r>
          </a:p>
          <a:p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594919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C46D0526-4095-3CD0-017A-1553D4E5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D7ED4CF-6435-2D2E-351F-B2CAA15FD85F}"/>
              </a:ext>
            </a:extLst>
          </p:cNvPr>
          <p:cNvSpPr txBox="1"/>
          <p:nvPr/>
        </p:nvSpPr>
        <p:spPr>
          <a:xfrm>
            <a:off x="407988" y="56580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Customer Satisfaction processing Hints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02E6392-4006-09E6-0261-B5626D1A7ECA}"/>
              </a:ext>
            </a:extLst>
          </p:cNvPr>
          <p:cNvSpPr txBox="1"/>
          <p:nvPr/>
        </p:nvSpPr>
        <p:spPr>
          <a:xfrm>
            <a:off x="507251" y="2228671"/>
            <a:ext cx="59561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all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mentioned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locations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LLM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classification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based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on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customizable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Decide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whether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assign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discount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recommend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next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E94B350-19A1-4B98-8EBE-E1EE73EEC047}"/>
              </a:ext>
            </a:extLst>
          </p:cNvPr>
          <p:cNvSpPr txBox="1"/>
          <p:nvPr/>
        </p:nvSpPr>
        <p:spPr>
          <a:xfrm>
            <a:off x="654208" y="4417594"/>
            <a:ext cx="4377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500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customer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reviews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golden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labels</a:t>
            </a:r>
            <a:endParaRPr lang="pl-PL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Available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trips</a:t>
            </a:r>
            <a:r>
              <a:rPr lang="pl-PL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dirty="0" err="1">
                <a:latin typeface="Poppins" panose="00000500000000000000" pitchFamily="2" charset="-18"/>
                <a:cs typeface="Poppins" panose="00000500000000000000" pitchFamily="2" charset="-18"/>
              </a:rPr>
              <a:t>csv</a:t>
            </a: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52059084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2812</Words>
  <Application>Microsoft Office PowerPoint</Application>
  <PresentationFormat>Panoramiczny</PresentationFormat>
  <Paragraphs>369</Paragraphs>
  <Slides>42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Poppins</vt:lpstr>
      <vt:lpstr>Poppins Bold</vt:lpstr>
      <vt:lpstr>Motyw pakietu Office</vt:lpstr>
      <vt:lpstr>Generative AI</vt:lpstr>
      <vt:lpstr>Prezentacja programu PowerPoint</vt:lpstr>
      <vt:lpstr>LLM Flow orchestration</vt:lpstr>
      <vt:lpstr>Combining multiple LLM calls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LLM Flow Monitoring</vt:lpstr>
      <vt:lpstr>Prezentacja programu PowerPoint</vt:lpstr>
      <vt:lpstr>Prezentacja programu PowerPoint</vt:lpstr>
      <vt:lpstr>Prezentacja programu PowerPoint</vt:lpstr>
      <vt:lpstr>Prezentacja programu PowerPoint</vt:lpstr>
      <vt:lpstr>AI Agents</vt:lpstr>
      <vt:lpstr>What is an AI Agent?</vt:lpstr>
      <vt:lpstr>Prezentacja programu PowerPoint</vt:lpstr>
      <vt:lpstr>Prezentacja programu PowerPoint</vt:lpstr>
      <vt:lpstr>Prezentacja programu PowerPoint</vt:lpstr>
      <vt:lpstr>Empowering LLMs to take actions with tools</vt:lpstr>
      <vt:lpstr>Prezentacja programu PowerPoint</vt:lpstr>
      <vt:lpstr>Prezentacja programu PowerPoint</vt:lpstr>
      <vt:lpstr>Prezentacja programu PowerPoint</vt:lpstr>
      <vt:lpstr>Prezentacja programu PowerPoint</vt:lpstr>
      <vt:lpstr>Model Context Protocol (MCP)</vt:lpstr>
      <vt:lpstr>Prezentacja programu PowerPoint</vt:lpstr>
      <vt:lpstr>Prezentacja programu PowerPoint</vt:lpstr>
      <vt:lpstr>Prezentacja programu PowerPoint</vt:lpstr>
      <vt:lpstr>Prezentacja programu PowerPoint</vt:lpstr>
      <vt:lpstr>Chat Bots</vt:lpstr>
      <vt:lpstr>Prezentacja programu PowerPoint</vt:lpstr>
      <vt:lpstr>Prezentacja programu PowerPoint</vt:lpstr>
      <vt:lpstr>Prezentacja programu PowerPoint</vt:lpstr>
      <vt:lpstr>Prezentacja programu PowerPoint</vt:lpstr>
      <vt:lpstr>End of course assignment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majewski</dc:creator>
  <cp:lastModifiedBy>jan majewski</cp:lastModifiedBy>
  <cp:revision>11</cp:revision>
  <dcterms:created xsi:type="dcterms:W3CDTF">2025-03-24T19:53:29Z</dcterms:created>
  <dcterms:modified xsi:type="dcterms:W3CDTF">2026-01-09T16:06:03Z</dcterms:modified>
</cp:coreProperties>
</file>