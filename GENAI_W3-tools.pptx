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379" r:id="rId2"/>
    <p:sldId id="381" r:id="rId3"/>
    <p:sldId id="396" r:id="rId4"/>
    <p:sldId id="409" r:id="rId5"/>
    <p:sldId id="397" r:id="rId6"/>
    <p:sldId id="382" r:id="rId7"/>
    <p:sldId id="398" r:id="rId8"/>
    <p:sldId id="410" r:id="rId9"/>
    <p:sldId id="407" r:id="rId10"/>
    <p:sldId id="39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an majewski" initials="jm" lastIdx="1" clrIdx="0">
    <p:extLst>
      <p:ext uri="{19B8F6BF-5375-455C-9EA6-DF929625EA0E}">
        <p15:presenceInfo xmlns:p15="http://schemas.microsoft.com/office/powerpoint/2012/main" userId="db9dc37592f2cf7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214" autoAdjust="0"/>
    <p:restoredTop sz="94179" autoAdjust="0"/>
  </p:normalViewPr>
  <p:slideViewPr>
    <p:cSldViewPr snapToGrid="0" showGuides="1">
      <p:cViewPr varScale="1">
        <p:scale>
          <a:sx n="158" d="100"/>
          <a:sy n="158" d="100"/>
        </p:scale>
        <p:origin x="1074" y="144"/>
      </p:cViewPr>
      <p:guideLst>
        <p:guide orient="horz" pos="2160"/>
        <p:guide pos="3840"/>
      </p:guideLst>
    </p:cSldViewPr>
  </p:slideViewPr>
  <p:notesTextViewPr>
    <p:cViewPr>
      <p:scale>
        <a:sx n="20" d="100"/>
        <a:sy n="2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2AD13C-532C-48A9-AF48-A57AEED0EC6D}" type="datetimeFigureOut">
              <a:rPr lang="en-GB" smtClean="0"/>
              <a:t>09/01/2026</a:t>
            </a:fld>
            <a:endParaRPr lang="en-GB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86E63F-5599-483C-B362-002622C1C3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16445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86E63F-5599-483C-B362-002622C1C35D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81102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EADAE-6CC3-B2C6-00C3-E3A8E1A7F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A1578CD9-B4DA-DF0B-2FDB-7EF3AF0029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9D39446E-21FE-1C28-F38D-9C35533D34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EDE01DFE-51B0-7C77-62FA-0BAD7348BD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86E63F-5599-483C-B362-002622C1C35D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29419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62C20CA-7094-6932-E112-20023456AD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E43348C5-4C50-9CA8-5C66-A833EB86C0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GB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50F9289-7582-040B-BE1A-7AE6C3EB5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2E453-D685-4586-AF87-0ABDA9DFFD66}" type="datetimeFigureOut">
              <a:rPr lang="en-GB" smtClean="0"/>
              <a:t>09/01/2026</a:t>
            </a:fld>
            <a:endParaRPr lang="en-GB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A5CF7BAA-20F1-9D64-F431-7F15A31B4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E05E73A4-7DCB-1D17-B825-B6E346F9B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C943C-7598-489F-93C7-8AB83350E7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9817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EF4497D-75C4-B1E9-631D-85FD82CA7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7D709BD-3954-A939-4AFF-481C1C54BE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5845E7AA-257D-4CEA-1326-03DA6DD1E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2E453-D685-4586-AF87-0ABDA9DFFD66}" type="datetimeFigureOut">
              <a:rPr lang="en-GB" smtClean="0"/>
              <a:t>09/01/2026</a:t>
            </a:fld>
            <a:endParaRPr lang="en-GB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A989609E-18AD-801E-BFF9-C7CF4635F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FE16A70-41E2-9449-D7DA-FCD94DE84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C943C-7598-489F-93C7-8AB83350E7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759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E5A5D9B-9FF4-FF59-12BC-8D0B755C9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54ABE00F-650E-8F2B-E5C7-63618575BB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1DB3F7AA-07C9-6760-92FE-71283159F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2E453-D685-4586-AF87-0ABDA9DFFD66}" type="datetimeFigureOut">
              <a:rPr lang="en-GB" smtClean="0"/>
              <a:t>09/01/2026</a:t>
            </a:fld>
            <a:endParaRPr lang="en-GB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689707BC-1142-05BC-44BF-C45A2EC55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3643DFB3-C128-AF09-1AA0-C5ECC2B9C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C943C-7598-489F-93C7-8AB83350E7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0789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0F63A4D-F1C6-19E2-D7DB-42547A2BC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971EBF9-009B-3A97-E8FA-DDC0AE785F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EE984B5F-30C6-F068-32F9-47C45014EA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4BF678B5-B253-73B2-702C-A7E5D44FD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2E453-D685-4586-AF87-0ABDA9DFFD66}" type="datetimeFigureOut">
              <a:rPr lang="en-GB" smtClean="0"/>
              <a:t>09/01/2026</a:t>
            </a:fld>
            <a:endParaRPr lang="en-GB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36C99AAC-589E-25AC-E4B6-12EFB09C4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B423CA0A-17C6-B83C-5F2F-5D674AF16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C943C-7598-489F-93C7-8AB83350E7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7211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2B48774-8536-928E-E456-2215E5573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157831BF-B813-5601-BD11-25D4965125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C3DA94BC-61C4-094B-1610-03B29E59C2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4567B359-79EB-FEAE-2B45-AC8E57E7AF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23CF0982-F7F3-5D75-EDDB-7C1F5DFA3A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EDDD37D5-ACA0-87FB-6FA7-D03C32ED4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2E453-D685-4586-AF87-0ABDA9DFFD66}" type="datetimeFigureOut">
              <a:rPr lang="en-GB" smtClean="0"/>
              <a:t>09/01/2026</a:t>
            </a:fld>
            <a:endParaRPr lang="en-GB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385CC432-CE42-5385-5001-A1C7D60DF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DB40AF13-FDE9-F1B2-6C31-50476E76B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C943C-7598-489F-93C7-8AB83350E7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9660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AD0A622-149E-E8D3-D4C6-52DDD5177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FB20C369-8447-F81E-5A0C-287CFD5AD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2E453-D685-4586-AF87-0ABDA9DFFD66}" type="datetimeFigureOut">
              <a:rPr lang="en-GB" smtClean="0"/>
              <a:t>09/01/2026</a:t>
            </a:fld>
            <a:endParaRPr lang="en-GB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3ACF5DFD-4FFC-45A9-9AF5-0F59C5D8D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A62A3927-B906-C0BB-3285-4844D449D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C943C-7598-489F-93C7-8AB83350E7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8605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06BFA799-2EEB-391C-6DA5-62E52E4B3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2E453-D685-4586-AF87-0ABDA9DFFD66}" type="datetimeFigureOut">
              <a:rPr lang="en-GB" smtClean="0"/>
              <a:t>09/01/2026</a:t>
            </a:fld>
            <a:endParaRPr lang="en-GB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A7AB0A54-3548-1AD5-91F0-7F8A1864C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1DD60E7C-03AA-FF59-C8AD-C95FA4239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C943C-7598-489F-93C7-8AB83350E7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2069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A1D63E8-96B3-8CBE-1A08-4D410E9AA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B39DDB3-F622-1AFC-8952-362AE34421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2FBFA61A-CA00-F220-13D5-1714E38E4F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B8259A6F-7FC1-9DE7-C25D-26A1BBF73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2E453-D685-4586-AF87-0ABDA9DFFD66}" type="datetimeFigureOut">
              <a:rPr lang="en-GB" smtClean="0"/>
              <a:t>09/01/2026</a:t>
            </a:fld>
            <a:endParaRPr lang="en-GB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4F4AD119-BF64-3024-7CA0-3D5303FC1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2FD52469-32F5-27A1-F959-A38CC2D54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C943C-7598-489F-93C7-8AB83350E7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2350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44A5321-214B-5BE2-91A9-2F1B37ABD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7422B7A0-F551-5346-78DB-46DF2878D2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5659892C-856A-6913-C3E7-4B4004B334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776770F8-8E39-45CF-0B62-A209D8219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2E453-D685-4586-AF87-0ABDA9DFFD66}" type="datetimeFigureOut">
              <a:rPr lang="en-GB" smtClean="0"/>
              <a:t>09/01/2026</a:t>
            </a:fld>
            <a:endParaRPr lang="en-GB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ABB60566-EB10-BA8C-83BF-7B8B5E296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547A117B-A2A6-E223-0478-C9CDD4A12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C943C-7598-489F-93C7-8AB83350E7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9679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D536C8D-3919-F6C0-E777-FAB25798E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62CEA4D4-19EA-1862-0F96-B82E12FA59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136996F1-4E94-9FAA-C6DF-6735727EB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2E453-D685-4586-AF87-0ABDA9DFFD66}" type="datetimeFigureOut">
              <a:rPr lang="en-GB" smtClean="0"/>
              <a:t>09/01/2026</a:t>
            </a:fld>
            <a:endParaRPr lang="en-GB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F29D84ED-AF0A-97EA-CCAF-32E0E0436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62BD4F29-30E0-7A2C-C2CD-AC577C2BF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C943C-7598-489F-93C7-8AB83350E7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5256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95A566C5-D2C2-6D1D-4D6E-3B7C345001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6CCE7D27-4F0F-5064-00C5-6D4517525D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DA58E3BE-E18A-91F4-44C2-D0E1EFC8E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2E453-D685-4586-AF87-0ABDA9DFFD66}" type="datetimeFigureOut">
              <a:rPr lang="en-GB" smtClean="0"/>
              <a:t>09/01/2026</a:t>
            </a:fld>
            <a:endParaRPr lang="en-GB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522402C2-FB03-2449-4FE7-F735C761B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604AE181-C4C8-3514-2397-ACD854496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C943C-7598-489F-93C7-8AB83350E7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9655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BA9DA2FE-15CD-5BD4-D30B-326D0E35C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3419DC9F-FF1F-D735-5928-FE9A0DBE5C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BCB8F1F8-AD9C-57CA-199B-6F1EC0A27B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F2E453-D685-4586-AF87-0ABDA9DFFD66}" type="datetimeFigureOut">
              <a:rPr lang="en-GB" smtClean="0"/>
              <a:t>09/01/2026</a:t>
            </a:fld>
            <a:endParaRPr lang="en-GB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1057D1E-1FD6-8EB4-DF3A-47C526434B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832CAA89-270C-3D76-FADA-29E0A958E4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CC943C-7598-489F-93C7-8AB83350E7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519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DDEB4-B5BC-8A4E-BDB8-F26CFEF1E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rostokąt 2">
            <a:extLst>
              <a:ext uri="{FF2B5EF4-FFF2-40B4-BE49-F238E27FC236}">
                <a16:creationId xmlns:a16="http://schemas.microsoft.com/office/drawing/2014/main" id="{43E4A182-F5E2-1CA4-4169-F75B1BAE1C8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DB940D8B-656F-1FC7-935E-A3E084CE18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pl-PL" sz="6000" b="1" dirty="0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AI </a:t>
            </a:r>
            <a:r>
              <a:rPr lang="pl-PL" sz="6000" b="1" dirty="0" err="1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Agents</a:t>
            </a:r>
            <a:endParaRPr lang="pl-PL" sz="6000" b="1" dirty="0">
              <a:solidFill>
                <a:schemeClr val="bg1"/>
              </a:solidFill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6445969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500CE-AE26-66E9-B4D7-2DE288E97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C6FAAC0-BD28-75BE-8629-B19FE44EE5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pl-PL" sz="60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What</a:t>
            </a:r>
            <a:r>
              <a:rPr lang="pl-PL" sz="6000" b="1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60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is</a:t>
            </a:r>
            <a:r>
              <a:rPr lang="pl-PL" sz="6000" b="1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60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an</a:t>
            </a:r>
            <a:r>
              <a:rPr lang="pl-PL" sz="6000" b="1" dirty="0">
                <a:latin typeface="Poppins" panose="00000500000000000000" pitchFamily="2" charset="-18"/>
                <a:cs typeface="Poppins" panose="00000500000000000000" pitchFamily="2" charset="-18"/>
              </a:rPr>
              <a:t> AI Agent?</a:t>
            </a:r>
          </a:p>
        </p:txBody>
      </p:sp>
    </p:spTree>
    <p:extLst>
      <p:ext uri="{BB962C8B-B14F-4D97-AF65-F5344CB8AC3E}">
        <p14:creationId xmlns:p14="http://schemas.microsoft.com/office/powerpoint/2010/main" val="3734513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267B6-3818-5208-C59C-23D5DA903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335;g2ae502b7976_1_101">
            <a:extLst>
              <a:ext uri="{FF2B5EF4-FFF2-40B4-BE49-F238E27FC236}">
                <a16:creationId xmlns:a16="http://schemas.microsoft.com/office/drawing/2014/main" id="{E70AD038-E3FD-2469-4CD4-8615F2506E05}"/>
              </a:ext>
            </a:extLst>
          </p:cNvPr>
          <p:cNvSpPr txBox="1"/>
          <p:nvPr/>
        </p:nvSpPr>
        <p:spPr>
          <a:xfrm>
            <a:off x="407988" y="565805"/>
            <a:ext cx="113760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What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makes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LLMs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Agentic</a:t>
            </a:r>
            <a:endParaRPr lang="pl-PL" sz="28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CF75D75D-41A2-E751-C93C-DBEF069E0C72}"/>
              </a:ext>
            </a:extLst>
          </p:cNvPr>
          <p:cNvSpPr txBox="1"/>
          <p:nvPr/>
        </p:nvSpPr>
        <p:spPr>
          <a:xfrm>
            <a:off x="387177" y="1396666"/>
            <a:ext cx="4608983" cy="4601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  <a:buNone/>
            </a:pPr>
            <a:r>
              <a:rPr lang="en-GB" b="1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What Are AI Agents?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Autonomous systems powered by AI that can perceive their environment, make decisions, and take actions</a:t>
            </a:r>
            <a:endParaRPr lang="pl-PL" b="0" i="0" dirty="0">
              <a:effectLst/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GB" b="0" i="0" dirty="0">
              <a:effectLst/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Combine LLMs with the ability to use tools and execute tasks over multiple steps</a:t>
            </a:r>
            <a:endParaRPr lang="pl-PL" b="0" i="0" dirty="0">
              <a:effectLst/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GB" b="0" i="0" dirty="0">
              <a:effectLst/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Designed to achieve specific goals with varying degrees of autonomy</a:t>
            </a:r>
            <a:endParaRPr lang="pl-PL" b="0" i="0" dirty="0">
              <a:effectLst/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pl-PL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pl-PL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LLM </a:t>
            </a:r>
            <a:r>
              <a:rPr lang="pl-PL" b="0" i="0" dirty="0" err="1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serves</a:t>
            </a:r>
            <a:r>
              <a:rPr lang="pl-PL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 as the `</a:t>
            </a:r>
            <a:r>
              <a:rPr lang="pl-PL" b="0" i="0" dirty="0" err="1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brain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` of the system, but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it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also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be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connected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to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classical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programs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,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databases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, email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etc</a:t>
            </a:r>
            <a:endParaRPr lang="en-GB" b="0" i="0" dirty="0">
              <a:effectLst/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  <p:sp>
        <p:nvSpPr>
          <p:cNvPr id="15" name="pole tekstowe 14">
            <a:extLst>
              <a:ext uri="{FF2B5EF4-FFF2-40B4-BE49-F238E27FC236}">
                <a16:creationId xmlns:a16="http://schemas.microsoft.com/office/drawing/2014/main" id="{C166EBFC-AE48-4DF8-0BBF-C6C09058360E}"/>
              </a:ext>
            </a:extLst>
          </p:cNvPr>
          <p:cNvSpPr txBox="1"/>
          <p:nvPr/>
        </p:nvSpPr>
        <p:spPr>
          <a:xfrm>
            <a:off x="6095999" y="1396666"/>
            <a:ext cx="5543167" cy="3216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  <a:buNone/>
            </a:pPr>
            <a:r>
              <a:rPr lang="en-GB" b="1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Key Capabilities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Contextual Memory</a:t>
            </a:r>
            <a:r>
              <a:rPr lang="en-GB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: Short and long-term memory systems</a:t>
            </a:r>
            <a:br>
              <a:rPr lang="pl-PL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</a:br>
            <a:endParaRPr lang="en-GB" b="0" i="0" dirty="0">
              <a:effectLst/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Reasoning</a:t>
            </a:r>
            <a:r>
              <a:rPr lang="en-GB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: Ability to make logical inferences</a:t>
            </a:r>
            <a:br>
              <a:rPr lang="pl-PL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</a:br>
            <a:endParaRPr lang="en-GB" b="0" i="0" dirty="0">
              <a:effectLst/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Learning</a:t>
            </a:r>
            <a:r>
              <a:rPr lang="en-GB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: Improving performance through experience</a:t>
            </a:r>
            <a:br>
              <a:rPr lang="pl-PL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</a:br>
            <a:endParaRPr lang="en-GB" b="0" i="0" dirty="0">
              <a:effectLst/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Multimodal Understanding</a:t>
            </a:r>
            <a:r>
              <a:rPr lang="en-GB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: Processing different types of inputs (text, images, etc.)</a:t>
            </a:r>
          </a:p>
        </p:txBody>
      </p:sp>
    </p:spTree>
    <p:extLst>
      <p:ext uri="{BB962C8B-B14F-4D97-AF65-F5344CB8AC3E}">
        <p14:creationId xmlns:p14="http://schemas.microsoft.com/office/powerpoint/2010/main" val="41816738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4A026-42E2-93A8-2D27-61FB90037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335;g2ae502b7976_1_101">
            <a:extLst>
              <a:ext uri="{FF2B5EF4-FFF2-40B4-BE49-F238E27FC236}">
                <a16:creationId xmlns:a16="http://schemas.microsoft.com/office/drawing/2014/main" id="{DEEEFDF1-9E62-6594-2E1F-B5CE0ABB87F5}"/>
              </a:ext>
            </a:extLst>
          </p:cNvPr>
          <p:cNvSpPr txBox="1"/>
          <p:nvPr/>
        </p:nvSpPr>
        <p:spPr>
          <a:xfrm>
            <a:off x="407988" y="565805"/>
            <a:ext cx="11376000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Interacting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with online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world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through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tools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and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iterative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improvements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is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what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makes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Agentic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LLMs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so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powerful</a:t>
            </a:r>
            <a:endParaRPr lang="pl-PL" sz="28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F60DC7EE-E983-523D-5B3D-0BC622473CC6}"/>
              </a:ext>
            </a:extLst>
          </p:cNvPr>
          <p:cNvSpPr txBox="1"/>
          <p:nvPr/>
        </p:nvSpPr>
        <p:spPr>
          <a:xfrm>
            <a:off x="6579894" y="1841201"/>
            <a:ext cx="4838015" cy="47551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  <a:buNone/>
            </a:pPr>
            <a:r>
              <a:rPr lang="en-GB" b="1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How AI Agents Use Tools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Tool Integration</a:t>
            </a:r>
            <a:r>
              <a:rPr lang="en-GB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: Access to APIs, databases, code execution, web browsing</a:t>
            </a:r>
            <a:endParaRPr lang="pl-PL" b="0" i="0" dirty="0">
              <a:effectLst/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GB" b="0" i="0" dirty="0">
              <a:effectLst/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Tool Selection</a:t>
            </a:r>
            <a:r>
              <a:rPr lang="en-GB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: Choose appropriate tools based on the current task requirements</a:t>
            </a:r>
            <a:endParaRPr lang="pl-PL" b="0" i="0" dirty="0">
              <a:effectLst/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GB" b="0" i="0" dirty="0">
              <a:effectLst/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Tool Chaining</a:t>
            </a:r>
            <a:r>
              <a:rPr lang="en-GB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: Coordinate multiple tools to solve complex problems</a:t>
            </a:r>
            <a:endParaRPr lang="pl-PL" b="0" i="0" dirty="0">
              <a:effectLst/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GB" b="0" i="0" dirty="0">
              <a:effectLst/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Tool Augmentation</a:t>
            </a:r>
            <a:r>
              <a:rPr lang="en-GB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: Overcome LLM limitations (computation, up-to-date info, specific actions)</a:t>
            </a:r>
          </a:p>
          <a:p>
            <a:pPr algn="l">
              <a:spcBef>
                <a:spcPts val="1200"/>
              </a:spcBef>
              <a:spcAft>
                <a:spcPts val="600"/>
              </a:spcAft>
              <a:buNone/>
            </a:pPr>
            <a:endParaRPr lang="en-GB" b="0" i="0" dirty="0">
              <a:effectLst/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225C67B3-2B3C-D5DE-4718-E0F51BD6AA8F}"/>
              </a:ext>
            </a:extLst>
          </p:cNvPr>
          <p:cNvSpPr txBox="1"/>
          <p:nvPr/>
        </p:nvSpPr>
        <p:spPr>
          <a:xfrm>
            <a:off x="365161" y="1841201"/>
            <a:ext cx="6094990" cy="432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  <a:buNone/>
            </a:pPr>
            <a:r>
              <a:rPr lang="en-GB" b="1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Iterative Decision Making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Plan-Execute-Reflect Loop</a:t>
            </a:r>
            <a:r>
              <a:rPr lang="en-GB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: Form a plan, take actions, evaluate results</a:t>
            </a:r>
            <a:endParaRPr lang="pl-PL" b="0" i="0" dirty="0">
              <a:effectLst/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GB" b="0" i="0" dirty="0">
              <a:effectLst/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Self-Correction</a:t>
            </a:r>
            <a:r>
              <a:rPr lang="en-GB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: Adjust strategy based on feedback and outcomes</a:t>
            </a:r>
            <a:endParaRPr lang="pl-PL" b="0" i="0" dirty="0">
              <a:effectLst/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GB" b="0" i="0" dirty="0">
              <a:effectLst/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Decomposition</a:t>
            </a:r>
            <a:r>
              <a:rPr lang="en-GB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: Break complex tasks into manageable subtasks</a:t>
            </a:r>
            <a:endParaRPr lang="pl-PL" b="0" i="0" dirty="0">
              <a:effectLst/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GB" b="0" i="0" dirty="0">
              <a:effectLst/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Memory Management</a:t>
            </a:r>
            <a:r>
              <a:rPr lang="en-GB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: Maintain context across multiple decision points</a:t>
            </a:r>
            <a:endParaRPr lang="pl-PL" b="0" i="0" dirty="0">
              <a:effectLst/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GB" b="0" i="0" dirty="0">
              <a:effectLst/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Re-planning</a:t>
            </a:r>
            <a:r>
              <a:rPr lang="en-GB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: Update approach when facing unexpected obstacles</a:t>
            </a:r>
            <a:endParaRPr lang="en-GB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2155976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02F2F-FFD7-AF90-72B2-428D355A0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335;g2ae502b7976_1_101">
            <a:extLst>
              <a:ext uri="{FF2B5EF4-FFF2-40B4-BE49-F238E27FC236}">
                <a16:creationId xmlns:a16="http://schemas.microsoft.com/office/drawing/2014/main" id="{36817153-81E1-92CC-D092-2B955C502F4C}"/>
              </a:ext>
            </a:extLst>
          </p:cNvPr>
          <p:cNvSpPr txBox="1"/>
          <p:nvPr/>
        </p:nvSpPr>
        <p:spPr>
          <a:xfrm>
            <a:off x="407988" y="565805"/>
            <a:ext cx="113760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Levels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of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Autonomy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in LLM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applications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</p:txBody>
      </p:sp>
      <p:pic>
        <p:nvPicPr>
          <p:cNvPr id="3" name="Obraz 2">
            <a:extLst>
              <a:ext uri="{FF2B5EF4-FFF2-40B4-BE49-F238E27FC236}">
                <a16:creationId xmlns:a16="http://schemas.microsoft.com/office/drawing/2014/main" id="{4D41063D-F9F0-37EA-D2F1-CBF31334CD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7642" y="1564534"/>
            <a:ext cx="7866289" cy="5145147"/>
          </a:xfrm>
          <a:prstGeom prst="rect">
            <a:avLst/>
          </a:prstGeom>
        </p:spPr>
      </p:pic>
      <p:cxnSp>
        <p:nvCxnSpPr>
          <p:cNvPr id="7" name="Łącznik prosty 6">
            <a:extLst>
              <a:ext uri="{FF2B5EF4-FFF2-40B4-BE49-F238E27FC236}">
                <a16:creationId xmlns:a16="http://schemas.microsoft.com/office/drawing/2014/main" id="{238DBAEB-B934-327C-64A8-594FBEA93AC2}"/>
              </a:ext>
            </a:extLst>
          </p:cNvPr>
          <p:cNvCxnSpPr/>
          <p:nvPr/>
        </p:nvCxnSpPr>
        <p:spPr>
          <a:xfrm>
            <a:off x="3238500" y="3822700"/>
            <a:ext cx="6102350" cy="0"/>
          </a:xfrm>
          <a:prstGeom prst="line">
            <a:avLst/>
          </a:prstGeom>
          <a:ln w="28575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Prostokąt: zaokrąglone rogi 7">
            <a:extLst>
              <a:ext uri="{FF2B5EF4-FFF2-40B4-BE49-F238E27FC236}">
                <a16:creationId xmlns:a16="http://schemas.microsoft.com/office/drawing/2014/main" id="{878554F0-E133-821E-E5EB-667DB9AC0F39}"/>
              </a:ext>
            </a:extLst>
          </p:cNvPr>
          <p:cNvSpPr/>
          <p:nvPr/>
        </p:nvSpPr>
        <p:spPr>
          <a:xfrm>
            <a:off x="8788400" y="3228975"/>
            <a:ext cx="2749550" cy="118745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Everything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below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this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line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is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currently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called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an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agent</a:t>
            </a:r>
            <a:endParaRPr lang="en-GB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  <p:sp>
        <p:nvSpPr>
          <p:cNvPr id="2" name="Prostokąt: zaokrąglone rogi 1">
            <a:extLst>
              <a:ext uri="{FF2B5EF4-FFF2-40B4-BE49-F238E27FC236}">
                <a16:creationId xmlns:a16="http://schemas.microsoft.com/office/drawing/2014/main" id="{41367756-F4F5-F025-262A-4A745B83B3D9}"/>
              </a:ext>
            </a:extLst>
          </p:cNvPr>
          <p:cNvSpPr/>
          <p:nvPr/>
        </p:nvSpPr>
        <p:spPr>
          <a:xfrm>
            <a:off x="266700" y="5715979"/>
            <a:ext cx="3968750" cy="729775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Level 6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Autonomy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without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any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control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is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still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extremely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rare</a:t>
            </a:r>
            <a:endParaRPr lang="en-GB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3256288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3072C-2414-99B5-61CC-9E5874999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BE95416-9CC5-5C41-4D7B-E9D80324A4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44713"/>
            <a:ext cx="9144000" cy="2387600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pl-PL" sz="60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Empowering</a:t>
            </a:r>
            <a:r>
              <a:rPr lang="pl-PL" sz="6000" b="1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60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LLMs</a:t>
            </a:r>
            <a:r>
              <a:rPr lang="pl-PL" sz="6000" b="1" dirty="0">
                <a:latin typeface="Poppins" panose="00000500000000000000" pitchFamily="2" charset="-18"/>
                <a:cs typeface="Poppins" panose="00000500000000000000" pitchFamily="2" charset="-18"/>
              </a:rPr>
              <a:t> to </a:t>
            </a:r>
            <a:r>
              <a:rPr lang="pl-PL" sz="60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take</a:t>
            </a:r>
            <a:r>
              <a:rPr lang="pl-PL" sz="6000" b="1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60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actions</a:t>
            </a:r>
            <a:r>
              <a:rPr lang="pl-PL" sz="6000" b="1" dirty="0">
                <a:latin typeface="Poppins" panose="00000500000000000000" pitchFamily="2" charset="-18"/>
                <a:cs typeface="Poppins" panose="00000500000000000000" pitchFamily="2" charset="-18"/>
              </a:rPr>
              <a:t> with </a:t>
            </a:r>
            <a:r>
              <a:rPr lang="pl-PL" sz="60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tools</a:t>
            </a:r>
            <a:endParaRPr lang="pl-PL" sz="6000" b="1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19786112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E5F00-8FEF-3727-6365-9476640AD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335;g2ae502b7976_1_101">
            <a:extLst>
              <a:ext uri="{FF2B5EF4-FFF2-40B4-BE49-F238E27FC236}">
                <a16:creationId xmlns:a16="http://schemas.microsoft.com/office/drawing/2014/main" id="{0FFA2FBF-5DC7-D61F-D04F-ED61D5814543}"/>
              </a:ext>
            </a:extLst>
          </p:cNvPr>
          <p:cNvSpPr txBox="1"/>
          <p:nvPr/>
        </p:nvSpPr>
        <p:spPr>
          <a:xfrm>
            <a:off x="407988" y="565805"/>
            <a:ext cx="113760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Why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do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agents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need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tools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?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C58C5A12-6E05-8C9C-2064-75B80DA4FE6F}"/>
              </a:ext>
            </a:extLst>
          </p:cNvPr>
          <p:cNvSpPr txBox="1"/>
          <p:nvPr/>
        </p:nvSpPr>
        <p:spPr>
          <a:xfrm>
            <a:off x="556247" y="1352540"/>
            <a:ext cx="10531609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LLMs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are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more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powerfull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than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just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chatbots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-&gt;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tools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allow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them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to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interact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with online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world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through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API, Databases, Email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or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anything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that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you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can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trigger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with a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script</a:t>
            </a:r>
            <a:endParaRPr lang="pl-PL" sz="2400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Tools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also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enable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them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to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leverage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more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data for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answers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, by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query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API, SQL Databases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etc</a:t>
            </a:r>
            <a:endParaRPr lang="pl-PL" sz="2400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Tools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can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improve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reliability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where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LLMs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typically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fail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e.g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. Math,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Physics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, Word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Counting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,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Dates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processing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-&gt;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if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LLMs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are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smart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enough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to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use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a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calculator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why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should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they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try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to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replicate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it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??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GB" sz="2400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42660505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B313C-3C20-B6E8-7F6A-9622D5E86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335;g2ae502b7976_1_101">
            <a:extLst>
              <a:ext uri="{FF2B5EF4-FFF2-40B4-BE49-F238E27FC236}">
                <a16:creationId xmlns:a16="http://schemas.microsoft.com/office/drawing/2014/main" id="{50A86249-ECCB-ACF7-4183-708A33972520}"/>
              </a:ext>
            </a:extLst>
          </p:cNvPr>
          <p:cNvSpPr txBox="1"/>
          <p:nvPr/>
        </p:nvSpPr>
        <p:spPr>
          <a:xfrm>
            <a:off x="407988" y="565805"/>
            <a:ext cx="113760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How to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convert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LLM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calls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into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iterative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LLM Agent?</a:t>
            </a:r>
          </a:p>
        </p:txBody>
      </p:sp>
      <p:pic>
        <p:nvPicPr>
          <p:cNvPr id="10" name="Obraz 9">
            <a:extLst>
              <a:ext uri="{FF2B5EF4-FFF2-40B4-BE49-F238E27FC236}">
                <a16:creationId xmlns:a16="http://schemas.microsoft.com/office/drawing/2014/main" id="{81C43D87-A615-0F8C-4155-ADDABEDBEC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071" y="1465997"/>
            <a:ext cx="9183435" cy="5258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0231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398B8-365B-D44B-EE0F-5CFAC0BDA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335;g2ae502b7976_1_101">
            <a:extLst>
              <a:ext uri="{FF2B5EF4-FFF2-40B4-BE49-F238E27FC236}">
                <a16:creationId xmlns:a16="http://schemas.microsoft.com/office/drawing/2014/main" id="{C4D1B42C-EDCA-FEDB-96A6-4CC35442B2FE}"/>
              </a:ext>
            </a:extLst>
          </p:cNvPr>
          <p:cNvSpPr txBox="1"/>
          <p:nvPr/>
        </p:nvSpPr>
        <p:spPr>
          <a:xfrm>
            <a:off x="407988" y="565805"/>
            <a:ext cx="113760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How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tools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work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from LLM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calling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perspective</a:t>
            </a:r>
            <a:endParaRPr lang="pl-PL" sz="28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" name="Obraz 2">
            <a:extLst>
              <a:ext uri="{FF2B5EF4-FFF2-40B4-BE49-F238E27FC236}">
                <a16:creationId xmlns:a16="http://schemas.microsoft.com/office/drawing/2014/main" id="{E0065F9F-E841-EFB7-AF3E-7E69AAFA8D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988" y="2005191"/>
            <a:ext cx="4011160" cy="1717007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5" name="Obraz 4">
            <a:extLst>
              <a:ext uri="{FF2B5EF4-FFF2-40B4-BE49-F238E27FC236}">
                <a16:creationId xmlns:a16="http://schemas.microsoft.com/office/drawing/2014/main" id="{3AF69855-982F-7CA6-203E-833ACFCE16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988" y="4399366"/>
            <a:ext cx="4011160" cy="2307892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8" name="Obraz 7">
            <a:extLst>
              <a:ext uri="{FF2B5EF4-FFF2-40B4-BE49-F238E27FC236}">
                <a16:creationId xmlns:a16="http://schemas.microsoft.com/office/drawing/2014/main" id="{AE73EFFB-6C09-C743-1EFD-8F3D033A99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1162" y="1757396"/>
            <a:ext cx="4233539" cy="1921552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11" name="Obraz 10">
            <a:extLst>
              <a:ext uri="{FF2B5EF4-FFF2-40B4-BE49-F238E27FC236}">
                <a16:creationId xmlns:a16="http://schemas.microsoft.com/office/drawing/2014/main" id="{17BADC22-7CB0-D4F7-84AC-2529B11079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1162" y="4762186"/>
            <a:ext cx="4233539" cy="1707848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14" name="Prostokąt: zaokrąglone rogi 13">
            <a:extLst>
              <a:ext uri="{FF2B5EF4-FFF2-40B4-BE49-F238E27FC236}">
                <a16:creationId xmlns:a16="http://schemas.microsoft.com/office/drawing/2014/main" id="{2602251F-4260-83E8-68BD-791E43F72B7C}"/>
              </a:ext>
            </a:extLst>
          </p:cNvPr>
          <p:cNvSpPr/>
          <p:nvPr/>
        </p:nvSpPr>
        <p:spPr>
          <a:xfrm>
            <a:off x="407988" y="1164921"/>
            <a:ext cx="3926910" cy="383070"/>
          </a:xfrm>
          <a:prstGeom prst="round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Call #1</a:t>
            </a:r>
            <a:endParaRPr lang="en-GB" dirty="0"/>
          </a:p>
        </p:txBody>
      </p:sp>
      <p:sp>
        <p:nvSpPr>
          <p:cNvPr id="15" name="Prostokąt: zaokrąglone rogi 14">
            <a:extLst>
              <a:ext uri="{FF2B5EF4-FFF2-40B4-BE49-F238E27FC236}">
                <a16:creationId xmlns:a16="http://schemas.microsoft.com/office/drawing/2014/main" id="{764ACB37-D0A4-6825-643B-7FB158B97518}"/>
              </a:ext>
            </a:extLst>
          </p:cNvPr>
          <p:cNvSpPr/>
          <p:nvPr/>
        </p:nvSpPr>
        <p:spPr>
          <a:xfrm>
            <a:off x="6518787" y="1164018"/>
            <a:ext cx="3926910" cy="383070"/>
          </a:xfrm>
          <a:prstGeom prst="round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Call #2</a:t>
            </a:r>
            <a:endParaRPr lang="en-GB" dirty="0"/>
          </a:p>
        </p:txBody>
      </p:sp>
      <p:sp>
        <p:nvSpPr>
          <p:cNvPr id="16" name="Dymek mowy: prostokąt z zaokrąglonymi rogami 15">
            <a:extLst>
              <a:ext uri="{FF2B5EF4-FFF2-40B4-BE49-F238E27FC236}">
                <a16:creationId xmlns:a16="http://schemas.microsoft.com/office/drawing/2014/main" id="{B8E3E138-173A-5F0C-96FF-9390C6A4CF8B}"/>
              </a:ext>
            </a:extLst>
          </p:cNvPr>
          <p:cNvSpPr/>
          <p:nvPr/>
        </p:nvSpPr>
        <p:spPr>
          <a:xfrm>
            <a:off x="4578263" y="2005191"/>
            <a:ext cx="1415698" cy="1772433"/>
          </a:xfrm>
          <a:prstGeom prst="wedgeRoundRectCallout">
            <a:avLst>
              <a:gd name="adj1" fmla="val -56623"/>
              <a:gd name="adj2" fmla="val 22635"/>
              <a:gd name="adj3" fmla="val 1666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200" dirty="0">
                <a:solidFill>
                  <a:schemeClr val="tx1"/>
                </a:solidFill>
              </a:rPr>
              <a:t>LLM </a:t>
            </a:r>
            <a:r>
              <a:rPr lang="pl-PL" sz="1200" dirty="0" err="1">
                <a:solidFill>
                  <a:schemeClr val="tx1"/>
                </a:solidFill>
              </a:rPr>
              <a:t>sees</a:t>
            </a:r>
            <a:r>
              <a:rPr lang="pl-PL" sz="1200" dirty="0">
                <a:solidFill>
                  <a:schemeClr val="tx1"/>
                </a:solidFill>
              </a:rPr>
              <a:t> </a:t>
            </a:r>
            <a:r>
              <a:rPr lang="pl-PL" sz="1200" dirty="0" err="1">
                <a:solidFill>
                  <a:schemeClr val="tx1"/>
                </a:solidFill>
              </a:rPr>
              <a:t>available</a:t>
            </a:r>
            <a:r>
              <a:rPr lang="pl-PL" sz="1200" dirty="0">
                <a:solidFill>
                  <a:schemeClr val="tx1"/>
                </a:solidFill>
              </a:rPr>
              <a:t> </a:t>
            </a:r>
            <a:r>
              <a:rPr lang="pl-PL" sz="1200" dirty="0" err="1">
                <a:solidFill>
                  <a:schemeClr val="tx1"/>
                </a:solidFill>
              </a:rPr>
              <a:t>tools</a:t>
            </a:r>
            <a:r>
              <a:rPr lang="pl-PL" sz="1200" dirty="0">
                <a:solidFill>
                  <a:schemeClr val="tx1"/>
                </a:solidFill>
              </a:rPr>
              <a:t> in </a:t>
            </a:r>
            <a:r>
              <a:rPr lang="pl-PL" sz="1200" dirty="0" err="1">
                <a:solidFill>
                  <a:schemeClr val="tx1"/>
                </a:solidFill>
              </a:rPr>
              <a:t>prompt</a:t>
            </a:r>
            <a:r>
              <a:rPr lang="pl-PL" sz="1200" dirty="0">
                <a:solidFill>
                  <a:schemeClr val="tx1"/>
                </a:solidFill>
              </a:rPr>
              <a:t> </a:t>
            </a:r>
            <a:r>
              <a:rPr lang="pl-PL" sz="1200" dirty="0" err="1">
                <a:solidFill>
                  <a:schemeClr val="tx1"/>
                </a:solidFill>
              </a:rPr>
              <a:t>together</a:t>
            </a:r>
            <a:r>
              <a:rPr lang="pl-PL" sz="1200" dirty="0">
                <a:solidFill>
                  <a:schemeClr val="tx1"/>
                </a:solidFill>
              </a:rPr>
              <a:t> with </a:t>
            </a:r>
            <a:r>
              <a:rPr lang="pl-PL" sz="1200" dirty="0" err="1">
                <a:solidFill>
                  <a:schemeClr val="tx1"/>
                </a:solidFill>
              </a:rPr>
              <a:t>usage</a:t>
            </a:r>
            <a:r>
              <a:rPr lang="pl-PL" sz="1200" dirty="0">
                <a:solidFill>
                  <a:schemeClr val="tx1"/>
                </a:solidFill>
              </a:rPr>
              <a:t> </a:t>
            </a:r>
            <a:r>
              <a:rPr lang="pl-PL" sz="1200" dirty="0" err="1">
                <a:solidFill>
                  <a:schemeClr val="tx1"/>
                </a:solidFill>
              </a:rPr>
              <a:t>guideliness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17" name="Dymek mowy: prostokąt z zaokrąglonymi rogami 16">
            <a:extLst>
              <a:ext uri="{FF2B5EF4-FFF2-40B4-BE49-F238E27FC236}">
                <a16:creationId xmlns:a16="http://schemas.microsoft.com/office/drawing/2014/main" id="{20C454B7-DBAF-8028-09BB-592F77384C3E}"/>
              </a:ext>
            </a:extLst>
          </p:cNvPr>
          <p:cNvSpPr/>
          <p:nvPr/>
        </p:nvSpPr>
        <p:spPr>
          <a:xfrm>
            <a:off x="4578263" y="4767587"/>
            <a:ext cx="1415698" cy="1772433"/>
          </a:xfrm>
          <a:prstGeom prst="wedgeRoundRectCallout">
            <a:avLst>
              <a:gd name="adj1" fmla="val -56623"/>
              <a:gd name="adj2" fmla="val 22635"/>
              <a:gd name="adj3" fmla="val 1666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200" dirty="0">
                <a:solidFill>
                  <a:schemeClr val="tx1"/>
                </a:solidFill>
              </a:rPr>
              <a:t>LLM </a:t>
            </a:r>
            <a:r>
              <a:rPr lang="pl-PL" sz="1200" dirty="0" err="1">
                <a:solidFill>
                  <a:schemeClr val="tx1"/>
                </a:solidFill>
              </a:rPr>
              <a:t>decides</a:t>
            </a:r>
            <a:r>
              <a:rPr lang="pl-PL" sz="1200" dirty="0">
                <a:solidFill>
                  <a:schemeClr val="tx1"/>
                </a:solidFill>
              </a:rPr>
              <a:t> to </a:t>
            </a:r>
            <a:r>
              <a:rPr lang="pl-PL" sz="1200" dirty="0" err="1">
                <a:solidFill>
                  <a:schemeClr val="tx1"/>
                </a:solidFill>
              </a:rPr>
              <a:t>use</a:t>
            </a:r>
            <a:r>
              <a:rPr lang="pl-PL" sz="1200" dirty="0">
                <a:solidFill>
                  <a:schemeClr val="tx1"/>
                </a:solidFill>
              </a:rPr>
              <a:t> </a:t>
            </a:r>
            <a:r>
              <a:rPr lang="pl-PL" sz="1200" dirty="0" err="1">
                <a:solidFill>
                  <a:schemeClr val="tx1"/>
                </a:solidFill>
              </a:rPr>
              <a:t>tool</a:t>
            </a:r>
            <a:r>
              <a:rPr lang="pl-PL" sz="1200" dirty="0">
                <a:solidFill>
                  <a:schemeClr val="tx1"/>
                </a:solidFill>
              </a:rPr>
              <a:t> -&gt; 1st </a:t>
            </a:r>
            <a:r>
              <a:rPr lang="pl-PL" sz="1200" dirty="0" err="1">
                <a:solidFill>
                  <a:schemeClr val="tx1"/>
                </a:solidFill>
              </a:rPr>
              <a:t>output</a:t>
            </a:r>
            <a:r>
              <a:rPr lang="pl-PL" sz="1200" dirty="0">
                <a:solidFill>
                  <a:schemeClr val="tx1"/>
                </a:solidFill>
              </a:rPr>
              <a:t> </a:t>
            </a:r>
            <a:r>
              <a:rPr lang="pl-PL" sz="1200" dirty="0" err="1">
                <a:solidFill>
                  <a:schemeClr val="tx1"/>
                </a:solidFill>
              </a:rPr>
              <a:t>is</a:t>
            </a:r>
            <a:r>
              <a:rPr lang="pl-PL" sz="1200" dirty="0">
                <a:solidFill>
                  <a:schemeClr val="tx1"/>
                </a:solidFill>
              </a:rPr>
              <a:t> </a:t>
            </a:r>
            <a:r>
              <a:rPr lang="pl-PL" sz="1200" dirty="0" err="1">
                <a:solidFill>
                  <a:schemeClr val="tx1"/>
                </a:solidFill>
              </a:rPr>
              <a:t>just</a:t>
            </a:r>
            <a:r>
              <a:rPr lang="pl-PL" sz="1200" dirty="0">
                <a:solidFill>
                  <a:schemeClr val="tx1"/>
                </a:solidFill>
              </a:rPr>
              <a:t> a </a:t>
            </a:r>
            <a:r>
              <a:rPr lang="pl-PL" sz="1200" dirty="0" err="1">
                <a:solidFill>
                  <a:schemeClr val="tx1"/>
                </a:solidFill>
              </a:rPr>
              <a:t>tool</a:t>
            </a:r>
            <a:r>
              <a:rPr lang="pl-PL" sz="1200" dirty="0">
                <a:solidFill>
                  <a:schemeClr val="tx1"/>
                </a:solidFill>
              </a:rPr>
              <a:t> </a:t>
            </a:r>
            <a:r>
              <a:rPr lang="pl-PL" sz="1200" dirty="0" err="1">
                <a:solidFill>
                  <a:schemeClr val="tx1"/>
                </a:solidFill>
              </a:rPr>
              <a:t>trigger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18" name="Dymek mowy: prostokąt z zaokrąglonymi rogami 17">
            <a:extLst>
              <a:ext uri="{FF2B5EF4-FFF2-40B4-BE49-F238E27FC236}">
                <a16:creationId xmlns:a16="http://schemas.microsoft.com/office/drawing/2014/main" id="{2759CA9E-1CE3-848B-2B50-1DCF1E414CDA}"/>
              </a:ext>
            </a:extLst>
          </p:cNvPr>
          <p:cNvSpPr/>
          <p:nvPr/>
        </p:nvSpPr>
        <p:spPr>
          <a:xfrm>
            <a:off x="10603282" y="2005191"/>
            <a:ext cx="1415698" cy="1772433"/>
          </a:xfrm>
          <a:prstGeom prst="wedgeRoundRectCallout">
            <a:avLst>
              <a:gd name="adj1" fmla="val -56623"/>
              <a:gd name="adj2" fmla="val 22635"/>
              <a:gd name="adj3" fmla="val 1666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200" dirty="0">
                <a:solidFill>
                  <a:schemeClr val="tx1"/>
                </a:solidFill>
              </a:rPr>
              <a:t>1st </a:t>
            </a:r>
            <a:r>
              <a:rPr lang="pl-PL" sz="1200" dirty="0" err="1">
                <a:solidFill>
                  <a:schemeClr val="tx1"/>
                </a:solidFill>
              </a:rPr>
              <a:t>call</a:t>
            </a:r>
            <a:r>
              <a:rPr lang="pl-PL" sz="1200" dirty="0">
                <a:solidFill>
                  <a:schemeClr val="tx1"/>
                </a:solidFill>
              </a:rPr>
              <a:t> </a:t>
            </a:r>
            <a:r>
              <a:rPr lang="pl-PL" sz="1200" dirty="0" err="1">
                <a:solidFill>
                  <a:schemeClr val="tx1"/>
                </a:solidFill>
              </a:rPr>
              <a:t>output</a:t>
            </a:r>
            <a:r>
              <a:rPr lang="pl-PL" sz="1200" dirty="0">
                <a:solidFill>
                  <a:schemeClr val="tx1"/>
                </a:solidFill>
              </a:rPr>
              <a:t> </a:t>
            </a:r>
            <a:r>
              <a:rPr lang="pl-PL" sz="1200" dirty="0" err="1">
                <a:solidFill>
                  <a:schemeClr val="tx1"/>
                </a:solidFill>
              </a:rPr>
              <a:t>is</a:t>
            </a:r>
            <a:r>
              <a:rPr lang="pl-PL" sz="1200" dirty="0">
                <a:solidFill>
                  <a:schemeClr val="tx1"/>
                </a:solidFill>
              </a:rPr>
              <a:t> </a:t>
            </a:r>
            <a:r>
              <a:rPr lang="pl-PL" sz="1200" dirty="0" err="1">
                <a:solidFill>
                  <a:schemeClr val="tx1"/>
                </a:solidFill>
              </a:rPr>
              <a:t>fed</a:t>
            </a:r>
            <a:r>
              <a:rPr lang="pl-PL" sz="1200" dirty="0">
                <a:solidFill>
                  <a:schemeClr val="tx1"/>
                </a:solidFill>
              </a:rPr>
              <a:t> to </a:t>
            </a:r>
            <a:r>
              <a:rPr lang="pl-PL" sz="1200" dirty="0" err="1">
                <a:solidFill>
                  <a:schemeClr val="tx1"/>
                </a:solidFill>
              </a:rPr>
              <a:t>tool</a:t>
            </a:r>
            <a:r>
              <a:rPr lang="pl-PL" sz="1200" dirty="0">
                <a:solidFill>
                  <a:schemeClr val="tx1"/>
                </a:solidFill>
              </a:rPr>
              <a:t>, </a:t>
            </a:r>
            <a:r>
              <a:rPr lang="pl-PL" sz="1200" dirty="0" err="1">
                <a:solidFill>
                  <a:schemeClr val="tx1"/>
                </a:solidFill>
              </a:rPr>
              <a:t>triggering</a:t>
            </a:r>
            <a:r>
              <a:rPr lang="pl-PL" sz="1200" dirty="0">
                <a:solidFill>
                  <a:schemeClr val="tx1"/>
                </a:solidFill>
              </a:rPr>
              <a:t> </a:t>
            </a:r>
            <a:r>
              <a:rPr lang="pl-PL" sz="1200" dirty="0" err="1">
                <a:solidFill>
                  <a:schemeClr val="tx1"/>
                </a:solidFill>
              </a:rPr>
              <a:t>an</a:t>
            </a:r>
            <a:r>
              <a:rPr lang="pl-PL" sz="1200" dirty="0">
                <a:solidFill>
                  <a:schemeClr val="tx1"/>
                </a:solidFill>
              </a:rPr>
              <a:t> </a:t>
            </a:r>
            <a:r>
              <a:rPr lang="pl-PL" sz="1200" dirty="0" err="1">
                <a:solidFill>
                  <a:schemeClr val="tx1"/>
                </a:solidFill>
              </a:rPr>
              <a:t>execution</a:t>
            </a:r>
            <a:r>
              <a:rPr lang="pl-PL" sz="1200" dirty="0">
                <a:solidFill>
                  <a:schemeClr val="tx1"/>
                </a:solidFill>
              </a:rPr>
              <a:t> and a </a:t>
            </a:r>
            <a:r>
              <a:rPr lang="pl-PL" sz="1200" dirty="0" err="1">
                <a:solidFill>
                  <a:schemeClr val="tx1"/>
                </a:solidFill>
              </a:rPr>
              <a:t>tool</a:t>
            </a:r>
            <a:r>
              <a:rPr lang="pl-PL" sz="1200" dirty="0">
                <a:solidFill>
                  <a:schemeClr val="tx1"/>
                </a:solidFill>
              </a:rPr>
              <a:t> </a:t>
            </a:r>
            <a:r>
              <a:rPr lang="pl-PL" sz="1200" dirty="0" err="1">
                <a:solidFill>
                  <a:schemeClr val="tx1"/>
                </a:solidFill>
              </a:rPr>
              <a:t>output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19" name="Dymek mowy: prostokąt z zaokrąglonymi rogami 18">
            <a:extLst>
              <a:ext uri="{FF2B5EF4-FFF2-40B4-BE49-F238E27FC236}">
                <a16:creationId xmlns:a16="http://schemas.microsoft.com/office/drawing/2014/main" id="{353863FC-A3A8-CE73-0DCF-BD3C6FBFD803}"/>
              </a:ext>
            </a:extLst>
          </p:cNvPr>
          <p:cNvSpPr/>
          <p:nvPr/>
        </p:nvSpPr>
        <p:spPr>
          <a:xfrm>
            <a:off x="10603282" y="4767587"/>
            <a:ext cx="1415698" cy="1772433"/>
          </a:xfrm>
          <a:prstGeom prst="wedgeRoundRectCallout">
            <a:avLst>
              <a:gd name="adj1" fmla="val -56623"/>
              <a:gd name="adj2" fmla="val 22635"/>
              <a:gd name="adj3" fmla="val 1666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200" dirty="0" err="1">
                <a:solidFill>
                  <a:schemeClr val="tx1"/>
                </a:solidFill>
              </a:rPr>
              <a:t>Tool</a:t>
            </a:r>
            <a:r>
              <a:rPr lang="pl-PL" sz="1200" dirty="0">
                <a:solidFill>
                  <a:schemeClr val="tx1"/>
                </a:solidFill>
              </a:rPr>
              <a:t> </a:t>
            </a:r>
            <a:r>
              <a:rPr lang="pl-PL" sz="1200" dirty="0" err="1">
                <a:solidFill>
                  <a:schemeClr val="tx1"/>
                </a:solidFill>
              </a:rPr>
              <a:t>output</a:t>
            </a:r>
            <a:r>
              <a:rPr lang="pl-PL" sz="1200" dirty="0">
                <a:solidFill>
                  <a:schemeClr val="tx1"/>
                </a:solidFill>
              </a:rPr>
              <a:t> </a:t>
            </a:r>
            <a:r>
              <a:rPr lang="pl-PL" sz="1200" dirty="0" err="1">
                <a:solidFill>
                  <a:schemeClr val="tx1"/>
                </a:solidFill>
              </a:rPr>
              <a:t>is</a:t>
            </a:r>
            <a:r>
              <a:rPr lang="pl-PL" sz="1200" dirty="0">
                <a:solidFill>
                  <a:schemeClr val="tx1"/>
                </a:solidFill>
              </a:rPr>
              <a:t> </a:t>
            </a:r>
            <a:r>
              <a:rPr lang="pl-PL" sz="1200" dirty="0" err="1">
                <a:solidFill>
                  <a:schemeClr val="tx1"/>
                </a:solidFill>
              </a:rPr>
              <a:t>fed</a:t>
            </a:r>
            <a:r>
              <a:rPr lang="pl-PL" sz="1200" dirty="0">
                <a:solidFill>
                  <a:schemeClr val="tx1"/>
                </a:solidFill>
              </a:rPr>
              <a:t> to 2nd LLM </a:t>
            </a:r>
            <a:r>
              <a:rPr lang="pl-PL" sz="1200" dirty="0" err="1">
                <a:solidFill>
                  <a:schemeClr val="tx1"/>
                </a:solidFill>
              </a:rPr>
              <a:t>call</a:t>
            </a:r>
            <a:r>
              <a:rPr lang="pl-PL" sz="1200" dirty="0">
                <a:solidFill>
                  <a:schemeClr val="tx1"/>
                </a:solidFill>
              </a:rPr>
              <a:t> to </a:t>
            </a:r>
            <a:r>
              <a:rPr lang="pl-PL" sz="1200" dirty="0" err="1">
                <a:solidFill>
                  <a:schemeClr val="tx1"/>
                </a:solidFill>
              </a:rPr>
              <a:t>power</a:t>
            </a:r>
            <a:r>
              <a:rPr lang="pl-PL" sz="1200" dirty="0">
                <a:solidFill>
                  <a:schemeClr val="tx1"/>
                </a:solidFill>
              </a:rPr>
              <a:t> </a:t>
            </a:r>
            <a:r>
              <a:rPr lang="pl-PL" sz="1200" dirty="0" err="1">
                <a:solidFill>
                  <a:schemeClr val="tx1"/>
                </a:solidFill>
              </a:rPr>
              <a:t>final</a:t>
            </a:r>
            <a:r>
              <a:rPr lang="pl-PL" sz="1200" dirty="0">
                <a:solidFill>
                  <a:schemeClr val="tx1"/>
                </a:solidFill>
              </a:rPr>
              <a:t> </a:t>
            </a:r>
            <a:r>
              <a:rPr lang="pl-PL" sz="1200" dirty="0" err="1">
                <a:solidFill>
                  <a:schemeClr val="tx1"/>
                </a:solidFill>
              </a:rPr>
              <a:t>response</a:t>
            </a:r>
            <a:r>
              <a:rPr lang="pl-PL" sz="1200" dirty="0">
                <a:solidFill>
                  <a:schemeClr val="tx1"/>
                </a:solidFill>
              </a:rPr>
              <a:t>, </a:t>
            </a:r>
            <a:r>
              <a:rPr lang="pl-PL" sz="1200" dirty="0" err="1">
                <a:solidFill>
                  <a:schemeClr val="tx1"/>
                </a:solidFill>
              </a:rPr>
              <a:t>or</a:t>
            </a:r>
            <a:r>
              <a:rPr lang="pl-PL" sz="1200" dirty="0">
                <a:solidFill>
                  <a:schemeClr val="tx1"/>
                </a:solidFill>
              </a:rPr>
              <a:t> </a:t>
            </a:r>
            <a:r>
              <a:rPr lang="pl-PL" sz="1200" dirty="0" err="1">
                <a:solidFill>
                  <a:schemeClr val="tx1"/>
                </a:solidFill>
              </a:rPr>
              <a:t>trigerring</a:t>
            </a:r>
            <a:r>
              <a:rPr lang="pl-PL" sz="1200" dirty="0">
                <a:solidFill>
                  <a:schemeClr val="tx1"/>
                </a:solidFill>
              </a:rPr>
              <a:t> </a:t>
            </a:r>
            <a:r>
              <a:rPr lang="pl-PL" sz="1200" dirty="0" err="1">
                <a:solidFill>
                  <a:schemeClr val="tx1"/>
                </a:solidFill>
              </a:rPr>
              <a:t>another</a:t>
            </a:r>
            <a:r>
              <a:rPr lang="pl-PL" sz="1200" dirty="0">
                <a:solidFill>
                  <a:schemeClr val="tx1"/>
                </a:solidFill>
              </a:rPr>
              <a:t> </a:t>
            </a:r>
            <a:r>
              <a:rPr lang="pl-PL" sz="1200" dirty="0" err="1">
                <a:solidFill>
                  <a:schemeClr val="tx1"/>
                </a:solidFill>
              </a:rPr>
              <a:t>iteration</a:t>
            </a:r>
            <a:endParaRPr lang="en-GB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3536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9EFAF-94FE-C0F2-F749-A2B87E81D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53600CA-F2C4-214A-7026-20998F6E3F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8" y="1759566"/>
            <a:ext cx="554355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Start with W3-agent_with_tools_BLANK.py</a:t>
            </a:r>
            <a:endParaRPr lang="en-GB" sz="2000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D484DF85-E03E-39A0-10D5-D8C7235C4174}"/>
              </a:ext>
            </a:extLst>
          </p:cNvPr>
          <p:cNvSpPr txBox="1"/>
          <p:nvPr/>
        </p:nvSpPr>
        <p:spPr>
          <a:xfrm>
            <a:off x="407989" y="565805"/>
            <a:ext cx="59356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8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Jupyter</a:t>
            </a:r>
            <a:r>
              <a:rPr lang="pl-PL" sz="2800" b="1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8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exercise</a:t>
            </a:r>
            <a:r>
              <a:rPr lang="pl-PL" sz="2800" b="1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en-GB" sz="2800" b="1" dirty="0">
                <a:latin typeface="Poppins" panose="00000500000000000000" pitchFamily="2" charset="-18"/>
                <a:cs typeface="Poppins" panose="00000500000000000000" pitchFamily="2" charset="-18"/>
              </a:rPr>
              <a:t>Reranking</a:t>
            </a:r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BABD137F-E1EB-9042-AAE1-58BE960D4F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4464" b="3819"/>
          <a:stretch/>
        </p:blipFill>
        <p:spPr>
          <a:xfrm>
            <a:off x="6096001" y="3383"/>
            <a:ext cx="6096000" cy="6854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424118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448</TotalTime>
  <Words>464</Words>
  <Application>Microsoft Office PowerPoint</Application>
  <PresentationFormat>Panoramiczny</PresentationFormat>
  <Paragraphs>55</Paragraphs>
  <Slides>10</Slides>
  <Notes>2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Poppins</vt:lpstr>
      <vt:lpstr>Motyw pakietu Office</vt:lpstr>
      <vt:lpstr>AI Agents</vt:lpstr>
      <vt:lpstr>What is an AI Agent?</vt:lpstr>
      <vt:lpstr>Prezentacja programu PowerPoint</vt:lpstr>
      <vt:lpstr>Prezentacja programu PowerPoint</vt:lpstr>
      <vt:lpstr>Prezentacja programu PowerPoint</vt:lpstr>
      <vt:lpstr>Empowering LLMs to take actions with tools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jan majewski</dc:creator>
  <cp:lastModifiedBy>jan majewski</cp:lastModifiedBy>
  <cp:revision>10</cp:revision>
  <dcterms:created xsi:type="dcterms:W3CDTF">2025-03-24T19:53:29Z</dcterms:created>
  <dcterms:modified xsi:type="dcterms:W3CDTF">2026-01-09T15:12:42Z</dcterms:modified>
</cp:coreProperties>
</file>